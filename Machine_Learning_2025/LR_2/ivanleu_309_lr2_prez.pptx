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8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59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46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27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96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8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47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91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40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151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7582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801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922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507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98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58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E567E-DC51-4B5F-BC03-CEBC2872B6FD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8A9D7-724B-4327-BD4F-51EF7F7157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023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7BF29-C06F-1AE7-F3C3-0EDD0819B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Задача классификации</a:t>
            </a:r>
            <a:br>
              <a:rPr lang="ru-RU" dirty="0"/>
            </a:br>
            <a:r>
              <a:rPr lang="ru-RU" sz="3200" dirty="0"/>
              <a:t>в машинном обучении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1DBA16-841A-03E5-783B-0325B0DFA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8250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dirty="0" err="1"/>
              <a:t>Леу</a:t>
            </a:r>
            <a:r>
              <a:rPr lang="ru-RU" dirty="0"/>
              <a:t> И.А. М8О-309Б-23</a:t>
            </a:r>
          </a:p>
          <a:p>
            <a:pPr algn="r"/>
            <a:r>
              <a:rPr lang="ru-RU" dirty="0"/>
              <a:t>Тарасов Е.Д. М8О-309Б-23</a:t>
            </a:r>
          </a:p>
          <a:p>
            <a:pPr algn="r"/>
            <a:r>
              <a:rPr lang="ru-RU" dirty="0"/>
              <a:t>Кривошапкин Е.Б 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262891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48F32-AA9D-33E9-304E-81E3740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80E534-3CD7-0B6F-759E-0065631FE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Цель:</a:t>
            </a:r>
            <a:r>
              <a:rPr lang="ru-RU" dirty="0"/>
              <a:t> построить модель, которая предсказывает итоговый экзаменационный балл студента на основе его привычек и условий обучения.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подготовить и проанализировать данные;</a:t>
            </a:r>
          </a:p>
          <a:p>
            <a:r>
              <a:rPr lang="ru-RU" dirty="0"/>
              <a:t>обучить модель «Дерево решений»;</a:t>
            </a:r>
          </a:p>
          <a:p>
            <a:r>
              <a:rPr lang="ru-RU" dirty="0"/>
              <a:t>оценить метрики и визуализировать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76240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40809-2AB1-7047-F064-D677DA26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56BB3-9E17-1231-0ADB-79AFEC157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000" dirty="0"/>
              <a:t>Дерево решений — это алгоритм </a:t>
            </a:r>
            <a:r>
              <a:rPr lang="ru-RU" sz="2000" b="1" dirty="0"/>
              <a:t>классификации и регрессии</a:t>
            </a:r>
            <a:r>
              <a:rPr lang="ru-RU" sz="2000" dirty="0"/>
              <a:t>, который принимает решения, разбивая данные по признакам в виде </a:t>
            </a:r>
            <a:r>
              <a:rPr lang="ru-RU" sz="2000" b="1" dirty="0"/>
              <a:t>дерева с узлами и ветвями</a:t>
            </a:r>
            <a:r>
              <a:rPr lang="ru-RU" sz="2000" dirty="0"/>
              <a:t>. Каждый узел дерева соответствует условию на значение признака (например, «возраст &gt; 30?»), а листья — это </a:t>
            </a:r>
            <a:r>
              <a:rPr lang="ru-RU" sz="2000" b="1" dirty="0"/>
              <a:t>предсказанные классы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Идея метода: Алгоритм рекурсивно делит выборку на подмножества так, чтобы в каждом из них объекты как можно больше принадлежали одному классу. Критерием “хорошего разбиения” служат меры </a:t>
            </a:r>
            <a:r>
              <a:rPr lang="ru-RU" sz="2000" b="1" dirty="0"/>
              <a:t>чистоты узла</a:t>
            </a:r>
            <a:r>
              <a:rPr lang="ru-RU" sz="2000" dirty="0"/>
              <a:t> — например, </a:t>
            </a:r>
            <a:r>
              <a:rPr lang="ru-RU" sz="2000" i="1" dirty="0" err="1"/>
              <a:t>Gini</a:t>
            </a:r>
            <a:r>
              <a:rPr lang="ru-RU" sz="2000" dirty="0"/>
              <a:t> или </a:t>
            </a:r>
            <a:r>
              <a:rPr lang="ru-RU" sz="2000" i="1" dirty="0"/>
              <a:t>энтропия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Преимущества:</a:t>
            </a:r>
          </a:p>
          <a:p>
            <a:r>
              <a:rPr lang="ru-RU" sz="2000" dirty="0"/>
              <a:t>Простая интерпретация (можно визуализировать дерево)</a:t>
            </a:r>
          </a:p>
          <a:p>
            <a:r>
              <a:rPr lang="ru-RU" sz="2000" dirty="0"/>
              <a:t>Не требует масштабирования данных</a:t>
            </a:r>
          </a:p>
          <a:p>
            <a:pPr marL="0" indent="0">
              <a:buNone/>
            </a:pPr>
            <a:r>
              <a:rPr lang="ru-RU" sz="2000" dirty="0"/>
              <a:t>Недостатки:</a:t>
            </a:r>
          </a:p>
          <a:p>
            <a:r>
              <a:rPr lang="ru-RU" sz="2000" dirty="0"/>
              <a:t>Склонно к </a:t>
            </a:r>
            <a:r>
              <a:rPr lang="ru-RU" sz="2000" b="1" dirty="0"/>
              <a:t>переобучению</a:t>
            </a:r>
            <a:r>
              <a:rPr lang="ru-RU" sz="2000" dirty="0"/>
              <a:t>, особенно при большой глубине дерева</a:t>
            </a:r>
          </a:p>
          <a:p>
            <a:r>
              <a:rPr lang="ru-RU" sz="2000" dirty="0"/>
              <a:t>Может быть нестабильным (небольшие изменения данных -</a:t>
            </a:r>
            <a:r>
              <a:rPr lang="en-US" sz="2000" dirty="0"/>
              <a:t>&gt; </a:t>
            </a:r>
            <a:r>
              <a:rPr lang="ru-RU" sz="2000" dirty="0"/>
              <a:t>другое дерево)</a:t>
            </a:r>
          </a:p>
        </p:txBody>
      </p:sp>
    </p:spTree>
    <p:extLst>
      <p:ext uri="{BB962C8B-B14F-4D97-AF65-F5344CB8AC3E}">
        <p14:creationId xmlns:p14="http://schemas.microsoft.com/office/powerpoint/2010/main" val="64380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94196-6108-257E-4EFB-B286DA68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CC671-C92C-EC74-7DF2-9AE15E090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Название:</a:t>
            </a:r>
            <a:r>
              <a:rPr lang="ru-RU" dirty="0"/>
              <a:t> student_habits_performance.csv</a:t>
            </a:r>
          </a:p>
          <a:p>
            <a:pPr marL="0" indent="0">
              <a:buNone/>
            </a:pPr>
            <a:r>
              <a:rPr lang="ru-RU" b="1" dirty="0"/>
              <a:t>Размер:</a:t>
            </a:r>
            <a:r>
              <a:rPr lang="ru-RU" dirty="0"/>
              <a:t> 1000 наблюдений, 16 признаков</a:t>
            </a:r>
          </a:p>
          <a:p>
            <a:pPr marL="0" indent="0">
              <a:buNone/>
            </a:pPr>
            <a:r>
              <a:rPr lang="ru-RU" b="1" dirty="0"/>
              <a:t>Целевая переменная:</a:t>
            </a:r>
            <a:r>
              <a:rPr lang="ru-RU" dirty="0"/>
              <a:t> </a:t>
            </a:r>
            <a:r>
              <a:rPr lang="ru-RU" dirty="0" err="1"/>
              <a:t>exam_score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Основные признаки:</a:t>
            </a:r>
            <a:endParaRPr lang="ru-RU" dirty="0"/>
          </a:p>
          <a:p>
            <a:r>
              <a:rPr lang="ru-RU" dirty="0"/>
              <a:t>количество часов учёбы, сна, соцсетей и </a:t>
            </a:r>
            <a:r>
              <a:rPr lang="ru-RU" dirty="0" err="1"/>
              <a:t>Netflix</a:t>
            </a:r>
            <a:endParaRPr lang="ru-RU" dirty="0"/>
          </a:p>
          <a:p>
            <a:r>
              <a:rPr lang="ru-RU" dirty="0"/>
              <a:t>процент посещаемости</a:t>
            </a:r>
          </a:p>
          <a:p>
            <a:r>
              <a:rPr lang="ru-RU" dirty="0"/>
              <a:t>питание, физическая активность, наличие работы</a:t>
            </a:r>
          </a:p>
          <a:p>
            <a:r>
              <a:rPr lang="ru-RU" dirty="0"/>
              <a:t>оценка психического здоровья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69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C0D9D-58B1-262C-FE02-EA89F0B2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1C24E-D621-310C-6A7B-4BBFB889B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 идентификатор </a:t>
            </a:r>
            <a:r>
              <a:rPr lang="en-US" dirty="0" err="1">
                <a:latin typeface="Consolas" panose="020B0609020204030204" pitchFamily="49" charset="0"/>
              </a:rPr>
              <a:t>student_id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dirty="0"/>
              <a:t>Разделены признаки и целевая переменная</a:t>
            </a:r>
          </a:p>
          <a:p>
            <a:r>
              <a:rPr lang="ru-RU" dirty="0"/>
              <a:t>Категориальные признаки преобразованы в числовые</a:t>
            </a:r>
          </a:p>
          <a:p>
            <a:r>
              <a:rPr lang="ru-RU" dirty="0"/>
              <a:t>Разделение данных: 80% для тренировки, 20% для тестирования</a:t>
            </a:r>
          </a:p>
          <a:p>
            <a:r>
              <a:rPr lang="ru-RU" dirty="0"/>
              <a:t>Без масштабирования — дерево не чувствительно к шкале</a:t>
            </a:r>
          </a:p>
        </p:txBody>
      </p:sp>
    </p:spTree>
    <p:extLst>
      <p:ext uri="{BB962C8B-B14F-4D97-AF65-F5344CB8AC3E}">
        <p14:creationId xmlns:p14="http://schemas.microsoft.com/office/powerpoint/2010/main" val="339984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F33D1-5B15-69A2-A3EE-165A0AB7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целевой переменной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09ECB-496A-8C47-9161-A889384C6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217" y="1819405"/>
            <a:ext cx="4094584" cy="4351338"/>
          </a:xfrm>
        </p:spPr>
        <p:txBody>
          <a:bodyPr>
            <a:normAutofit/>
          </a:bodyPr>
          <a:lstStyle/>
          <a:p>
            <a:r>
              <a:rPr lang="ru-RU" dirty="0"/>
              <a:t>Оценки распределены близко к нормальному закону</a:t>
            </a:r>
          </a:p>
          <a:p>
            <a:r>
              <a:rPr lang="ru-RU" dirty="0"/>
              <a:t>Средний балл ≈69, но имеется большое количество отличников</a:t>
            </a:r>
          </a:p>
          <a:p>
            <a:r>
              <a:rPr lang="ru-RU" dirty="0"/>
              <a:t>Наблюдаются студенты как с низкой, так и с высокой успеваемостью</a:t>
            </a:r>
            <a:endParaRPr lang="en-US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813D5B-F40F-2556-AD48-9D464A82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1998148"/>
            <a:ext cx="6282611" cy="345039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62267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38E32-F762-37DB-5C04-28DFB145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Корреляции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7BA2D-B92D-11E0-6093-EBBB76905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5441" cy="4562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Наибольшая положительная корреляция:</a:t>
            </a:r>
          </a:p>
          <a:p>
            <a:r>
              <a:rPr lang="en-US" dirty="0" err="1">
                <a:latin typeface="Consolas" panose="020B0609020204030204" pitchFamily="49" charset="0"/>
              </a:rPr>
              <a:t>study_hours_per_day</a:t>
            </a:r>
            <a:r>
              <a:rPr lang="ru-RU" dirty="0"/>
              <a:t>: 0,83</a:t>
            </a:r>
          </a:p>
          <a:p>
            <a:pPr marL="0" indent="0">
              <a:buNone/>
            </a:pPr>
            <a:r>
              <a:rPr lang="ru-RU" dirty="0"/>
              <a:t>Отрицательная корреляция:</a:t>
            </a:r>
          </a:p>
          <a:p>
            <a:r>
              <a:rPr lang="en-US" dirty="0" err="1">
                <a:latin typeface="Consolas" panose="020B0609020204030204" pitchFamily="49" charset="0"/>
              </a:rPr>
              <a:t>social_media_hours</a:t>
            </a:r>
            <a:r>
              <a:rPr lang="ru-RU" dirty="0"/>
              <a:t>: -0,17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netflix_hours</a:t>
            </a:r>
            <a:r>
              <a:rPr lang="ru-RU" dirty="0"/>
              <a:t>: -0,17</a:t>
            </a:r>
            <a:endParaRPr lang="ru-RU" dirty="0"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4DEC0A-F627-1EA5-900E-E2557827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641" y="1753606"/>
            <a:ext cx="5079475" cy="463475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3713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030E3-7CC7-0B1D-E54D-62FDA47F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модели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048A767-1EDF-E7D3-F735-53BD8EF1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Основные параметры (</a:t>
            </a:r>
            <a:r>
              <a:rPr lang="ru-RU" u="sng" dirty="0"/>
              <a:t>подчеркнутые</a:t>
            </a:r>
            <a:r>
              <a:rPr lang="ru-RU" dirty="0"/>
              <a:t> – по умолчанию) :</a:t>
            </a:r>
          </a:p>
          <a:p>
            <a:r>
              <a:rPr lang="ru-RU" dirty="0"/>
              <a:t>Критерий качества разбиения: </a:t>
            </a:r>
            <a:r>
              <a:rPr lang="ru-RU" u="sng" dirty="0"/>
              <a:t>индекс Джини</a:t>
            </a:r>
            <a:r>
              <a:rPr lang="ru-RU" dirty="0"/>
              <a:t>, энтропия, логарифмическая потеря</a:t>
            </a:r>
          </a:p>
          <a:p>
            <a:r>
              <a:rPr lang="ru-RU" dirty="0"/>
              <a:t>Выбор признака для разбиения: </a:t>
            </a:r>
            <a:r>
              <a:rPr lang="ru-RU" u="sng" dirty="0"/>
              <a:t>наилучшее разбиение</a:t>
            </a:r>
            <a:r>
              <a:rPr lang="ru-RU" dirty="0"/>
              <a:t>, случайный признак</a:t>
            </a:r>
          </a:p>
          <a:p>
            <a:r>
              <a:rPr lang="ru-RU" dirty="0"/>
              <a:t>Максимальная глубина дерева: </a:t>
            </a:r>
            <a:r>
              <a:rPr lang="ru-RU" u="sng" dirty="0"/>
              <a:t>без ограничения</a:t>
            </a:r>
          </a:p>
          <a:p>
            <a:r>
              <a:rPr lang="ru-RU" dirty="0"/>
              <a:t>Минимальное число образцов для разбиения узла: </a:t>
            </a:r>
            <a:r>
              <a:rPr lang="ru-RU" u="sng" dirty="0"/>
              <a:t>2</a:t>
            </a:r>
          </a:p>
          <a:p>
            <a:r>
              <a:rPr lang="ru-RU" dirty="0"/>
              <a:t>Минимальное количество образцов в листе: </a:t>
            </a:r>
            <a:r>
              <a:rPr lang="ru-RU" u="sng" dirty="0"/>
              <a:t>1</a:t>
            </a:r>
            <a:endParaRPr lang="en-US" u="sng" dirty="0"/>
          </a:p>
          <a:p>
            <a:r>
              <a:rPr lang="ru-RU" dirty="0"/>
              <a:t>Веса классов для компенсации дисбаланса: </a:t>
            </a:r>
            <a:r>
              <a:rPr lang="en-US" u="sng" dirty="0"/>
              <a:t>None</a:t>
            </a:r>
            <a:r>
              <a:rPr lang="en-US" dirty="0"/>
              <a:t>, balanced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3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CB56D-1623-9059-D64D-DA5AEC40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F35B2F-9F7F-736A-6CFC-75840F762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62" y="1935921"/>
            <a:ext cx="11172825" cy="447675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24811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19A99-32C4-1A29-3ED7-4AFFD0E4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97A4C-9494-3D0E-E89A-7D904E4C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62" y="1935921"/>
            <a:ext cx="11172825" cy="447675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6997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28C50-E259-0438-391E-5048FC98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931A78-1DA7-F17A-0051-813002BC1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62" y="1935921"/>
            <a:ext cx="11172825" cy="447675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56949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D61D5-74C8-C5F9-C9A9-25DF08F2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D69DDC-102B-0BFE-D29F-259B86B1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44" y="1935921"/>
            <a:ext cx="8130462" cy="4513095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997096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14A1D-C4EF-9C9D-61D1-DDD8F02C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93F722-8343-50A5-9678-33D0F835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578" y="1936394"/>
            <a:ext cx="7768194" cy="431200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077470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88187-4DB0-B15C-3A44-717B0AC7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метрик от настроек 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FEF911-89ED-FF95-380D-DA8AFCE1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49" y="1935921"/>
            <a:ext cx="8314252" cy="455718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08873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Фото для презентации спасибо за внимание: смотрите и скачивайте изображения  — Яндекс Картинки">
            <a:extLst>
              <a:ext uri="{FF2B5EF4-FFF2-40B4-BE49-F238E27FC236}">
                <a16:creationId xmlns:a16="http://schemas.microsoft.com/office/drawing/2014/main" id="{FBF0250F-ECD7-D29B-4E5C-55D59D68F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810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42</TotalTime>
  <Words>429</Words>
  <Application>Microsoft Office PowerPoint</Application>
  <PresentationFormat>Широкоэкранный</PresentationFormat>
  <Paragraphs>58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Consolas</vt:lpstr>
      <vt:lpstr>Rockwell</vt:lpstr>
      <vt:lpstr>Damask</vt:lpstr>
      <vt:lpstr>Задача классификации в машинном обучении</vt:lpstr>
      <vt:lpstr>Цель и задачи работы</vt:lpstr>
      <vt:lpstr>Используемая модель</vt:lpstr>
      <vt:lpstr>Датасет</vt:lpstr>
      <vt:lpstr>Подготовка данных</vt:lpstr>
      <vt:lpstr>Распределение целевой переменной</vt:lpstr>
      <vt:lpstr>Корреляции признаков</vt:lpstr>
      <vt:lpstr>Настройка модели</vt:lpstr>
      <vt:lpstr>Зависимость метрик от настроек модели</vt:lpstr>
      <vt:lpstr>Зависимость метрик от настроек модели</vt:lpstr>
      <vt:lpstr>Зависимость метрик от настроек модели</vt:lpstr>
      <vt:lpstr>Зависимость метрик от настроек модели</vt:lpstr>
      <vt:lpstr>Зависимость метрик от настроек модели</vt:lpstr>
      <vt:lpstr>Зависимость метрик от настроек модели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Кривошапкин</dc:creator>
  <cp:lastModifiedBy>Егор Кривошапкин</cp:lastModifiedBy>
  <cp:revision>3</cp:revision>
  <dcterms:created xsi:type="dcterms:W3CDTF">2025-10-31T13:05:27Z</dcterms:created>
  <dcterms:modified xsi:type="dcterms:W3CDTF">2025-10-31T15:35:17Z</dcterms:modified>
</cp:coreProperties>
</file>