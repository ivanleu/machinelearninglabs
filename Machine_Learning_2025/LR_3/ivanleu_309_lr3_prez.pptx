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1" r:id="rId9"/>
    <p:sldId id="262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uf" initials="R" lastIdx="1" clrIdx="0">
    <p:extLst>
      <p:ext uri="{19B8F6BF-5375-455C-9EA6-DF929625EA0E}">
        <p15:presenceInfo xmlns:p15="http://schemas.microsoft.com/office/powerpoint/2012/main" userId="37e7e5c5afbd67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65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4B1BD-981F-420A-8FE8-8BA8A69BC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4914" y="595665"/>
            <a:ext cx="5518066" cy="226855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ahnschrift Light" panose="020B0502040204020203" pitchFamily="34" charset="0"/>
              </a:rPr>
              <a:t>ML. </a:t>
            </a:r>
            <a:r>
              <a:rPr lang="ru-RU" dirty="0">
                <a:latin typeface="Bahnschrift Light" panose="020B0502040204020203" pitchFamily="34" charset="0"/>
              </a:rPr>
              <a:t>Лабораторная работа №3.</a:t>
            </a:r>
            <a:br>
              <a:rPr lang="en-US" dirty="0">
                <a:latin typeface="Bahnschrift Light" panose="020B0502040204020203" pitchFamily="34" charset="0"/>
              </a:rPr>
            </a:br>
            <a:br>
              <a:rPr lang="en-US" dirty="0">
                <a:latin typeface="Bahnschrift Light" panose="020B0502040204020203" pitchFamily="34" charset="0"/>
              </a:rPr>
            </a:br>
            <a:r>
              <a:rPr lang="ru-RU" sz="3600" dirty="0">
                <a:latin typeface="Bahnschrift Light" panose="020B0502040204020203" pitchFamily="34" charset="0"/>
              </a:rPr>
              <a:t>Подбор </a:t>
            </a:r>
            <a:r>
              <a:rPr lang="ru-RU" sz="3600" dirty="0" err="1">
                <a:latin typeface="Bahnschrift Light" panose="020B0502040204020203" pitchFamily="34" charset="0"/>
              </a:rPr>
              <a:t>гиперпараметров</a:t>
            </a:r>
            <a:r>
              <a:rPr lang="ru-RU" sz="3600" dirty="0">
                <a:latin typeface="Bahnschrift Light" panose="020B0502040204020203" pitchFamily="34" charset="0"/>
              </a:rPr>
              <a:t> модели.</a:t>
            </a:r>
            <a:br>
              <a:rPr lang="ru-RU" dirty="0">
                <a:latin typeface="Bahnschrift Light" panose="020B0502040204020203" pitchFamily="34" charset="0"/>
              </a:rPr>
            </a:b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E20DAC-4DB4-4996-AE4D-A063A252D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3615" y="5307821"/>
            <a:ext cx="5357600" cy="1160213"/>
          </a:xfrm>
        </p:spPr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Студент: </a:t>
            </a:r>
            <a:r>
              <a:rPr lang="ru-RU" dirty="0" err="1">
                <a:latin typeface="Bahnschrift Light" panose="020B0502040204020203" pitchFamily="34" charset="0"/>
              </a:rPr>
              <a:t>Велиев</a:t>
            </a:r>
            <a:r>
              <a:rPr lang="ru-RU" dirty="0">
                <a:latin typeface="Bahnschrift Light" panose="020B0502040204020203" pitchFamily="34" charset="0"/>
              </a:rPr>
              <a:t> Рауф </a:t>
            </a:r>
            <a:r>
              <a:rPr lang="ru-RU" dirty="0" err="1">
                <a:latin typeface="Bahnschrift Light" panose="020B0502040204020203" pitchFamily="34" charset="0"/>
              </a:rPr>
              <a:t>Рамиз</a:t>
            </a:r>
            <a:r>
              <a:rPr lang="ru-RU" dirty="0">
                <a:latin typeface="Bahnschrift Light" panose="020B0502040204020203" pitchFamily="34" charset="0"/>
              </a:rPr>
              <a:t> </a:t>
            </a:r>
            <a:r>
              <a:rPr lang="ru-RU" dirty="0" err="1">
                <a:latin typeface="Bahnschrift Light" panose="020B0502040204020203" pitchFamily="34" charset="0"/>
              </a:rPr>
              <a:t>оглы</a:t>
            </a:r>
            <a:endParaRPr lang="ru-RU" dirty="0">
              <a:latin typeface="Bahnschrift Light" panose="020B0502040204020203" pitchFamily="34" charset="0"/>
            </a:endParaRPr>
          </a:p>
          <a:p>
            <a:r>
              <a:rPr lang="ru-RU" dirty="0">
                <a:latin typeface="Bahnschrift Light" panose="020B0502040204020203" pitchFamily="34" charset="0"/>
              </a:rPr>
              <a:t>Группа: М8О-309Б-23</a:t>
            </a:r>
          </a:p>
        </p:txBody>
      </p:sp>
    </p:spTree>
    <p:extLst>
      <p:ext uri="{BB962C8B-B14F-4D97-AF65-F5344CB8AC3E}">
        <p14:creationId xmlns:p14="http://schemas.microsoft.com/office/powerpoint/2010/main" val="16142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74E82-0C90-4B09-85E4-6D63C3976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AE976-CC1B-4E45-85EF-097E6ED3D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5265" y="2102784"/>
            <a:ext cx="9675159" cy="38660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Цель и задачи работы: </a:t>
            </a: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1. выбрать модель для обучения</a:t>
            </a: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2. построить бинарную модель, предсказывающую </a:t>
            </a:r>
            <a:r>
              <a:rPr lang="ru-RU" sz="2400" dirty="0" err="1">
                <a:latin typeface="Bahnschrift Light" panose="020B0502040204020203" pitchFamily="34" charset="0"/>
              </a:rPr>
              <a:t>refused_flag</a:t>
            </a:r>
            <a:r>
              <a:rPr lang="ru-RU" sz="2400" dirty="0">
                <a:latin typeface="Bahnschrift Light" panose="020B0502040204020203" pitchFamily="34" charset="0"/>
              </a:rPr>
              <a:t> (есть ли отказ за неделю в больнице)</a:t>
            </a:r>
            <a:r>
              <a:rPr lang="en-US" sz="2400" dirty="0">
                <a:latin typeface="Bahnschrift Light" panose="020B0502040204020203" pitchFamily="34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3. подобрать </a:t>
            </a:r>
            <a:r>
              <a:rPr lang="ru-RU" sz="2400" dirty="0" err="1">
                <a:latin typeface="Bahnschrift Light" panose="020B0502040204020203" pitchFamily="34" charset="0"/>
              </a:rPr>
              <a:t>гиперпараметры</a:t>
            </a:r>
            <a:r>
              <a:rPr lang="ru-RU" sz="2400" dirty="0">
                <a:latin typeface="Bahnschrift Light" panose="020B0502040204020203" pitchFamily="34" charset="0"/>
              </a:rPr>
              <a:t> с помощью трёх методов: </a:t>
            </a:r>
            <a:r>
              <a:rPr lang="ru-RU" sz="2400" dirty="0" err="1">
                <a:latin typeface="Bahnschrift Light" panose="020B0502040204020203" pitchFamily="34" charset="0"/>
              </a:rPr>
              <a:t>GridSearch</a:t>
            </a:r>
            <a:r>
              <a:rPr lang="ru-RU" sz="2400" dirty="0">
                <a:latin typeface="Bahnschrift Light" panose="020B0502040204020203" pitchFamily="34" charset="0"/>
              </a:rPr>
              <a:t>, </a:t>
            </a:r>
            <a:r>
              <a:rPr lang="ru-RU" sz="2400" dirty="0" err="1">
                <a:latin typeface="Bahnschrift Light" panose="020B0502040204020203" pitchFamily="34" charset="0"/>
              </a:rPr>
              <a:t>RandomizedSearch</a:t>
            </a:r>
            <a:r>
              <a:rPr lang="ru-RU" sz="2400" dirty="0">
                <a:latin typeface="Bahnschrift Light" panose="020B0502040204020203" pitchFamily="34" charset="0"/>
              </a:rPr>
              <a:t>, </a:t>
            </a:r>
            <a:r>
              <a:rPr lang="ru-RU" sz="2400" dirty="0" err="1">
                <a:latin typeface="Bahnschrift Light" panose="020B0502040204020203" pitchFamily="34" charset="0"/>
              </a:rPr>
              <a:t>Optuna</a:t>
            </a:r>
            <a:r>
              <a:rPr lang="en-US" sz="2400" dirty="0">
                <a:latin typeface="Bahnschrift Light" panose="020B0502040204020203" pitchFamily="34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4. выполнить локальную и глобальную интерпретацию модели (LIME, SHAP).</a:t>
            </a:r>
          </a:p>
          <a:p>
            <a:pPr marL="0" indent="0">
              <a:buNone/>
            </a:pPr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80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3DA40-8632-44D4-B553-2AB1E54C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latin typeface="Bahnschrift Light" panose="020B0502040204020203" pitchFamily="34" charset="0"/>
              </a:rPr>
              <a:t>Датасет</a:t>
            </a:r>
            <a:r>
              <a:rPr lang="ru-RU" dirty="0">
                <a:latin typeface="Bahnschrift Light" panose="020B0502040204020203" pitchFamily="34" charset="0"/>
              </a:rPr>
              <a:t> и данные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3D225E-0E67-48AC-816C-E7DC99C47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1861" y="1718341"/>
            <a:ext cx="923985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Датасет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: Медицинские коляски.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Датасет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предназначен для моделирования реальной деятельности больницы среднего размера с акцентом на укомплектование персоналом, прием пациентов и распределение коек между отделениями.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Источник: services_weekly.csv (недельная агрегация по отделениям)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Размер: 208 строк, 10 столбцов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ru-RU" altLang="ru-RU" sz="2400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2400" dirty="0">
                <a:latin typeface="Bahnschrift Light" panose="020B0502040204020203" pitchFamily="34" charset="0"/>
              </a:rPr>
              <a:t>Ключевые поля: </a:t>
            </a:r>
            <a:r>
              <a:rPr lang="en-US" altLang="ru-RU" sz="2400" dirty="0">
                <a:latin typeface="Bahnschrift Light" panose="020B0502040204020203" pitchFamily="34" charset="0"/>
              </a:rPr>
              <a:t>week, month, service, </a:t>
            </a:r>
            <a:r>
              <a:rPr lang="en-US" altLang="ru-RU" sz="2400" dirty="0" err="1">
                <a:latin typeface="Bahnschrift Light" panose="020B0502040204020203" pitchFamily="34" charset="0"/>
              </a:rPr>
              <a:t>available_beds</a:t>
            </a:r>
            <a:r>
              <a:rPr lang="en-US" altLang="ru-RU" sz="2400" dirty="0">
                <a:latin typeface="Bahnschrift Light" panose="020B0502040204020203" pitchFamily="34" charset="0"/>
              </a:rPr>
              <a:t>, </a:t>
            </a:r>
            <a:r>
              <a:rPr lang="en-US" altLang="ru-RU" sz="2400" dirty="0" err="1">
                <a:latin typeface="Bahnschrift Light" panose="020B0502040204020203" pitchFamily="34" charset="0"/>
              </a:rPr>
              <a:t>patients_request</a:t>
            </a:r>
            <a:r>
              <a:rPr lang="en-US" altLang="ru-RU" sz="2400" dirty="0">
                <a:latin typeface="Bahnschrift Light" panose="020B0502040204020203" pitchFamily="34" charset="0"/>
              </a:rPr>
              <a:t>, </a:t>
            </a:r>
            <a:r>
              <a:rPr lang="en-US" altLang="ru-RU" sz="2400" dirty="0" err="1">
                <a:latin typeface="Bahnschrift Light" panose="020B0502040204020203" pitchFamily="34" charset="0"/>
              </a:rPr>
              <a:t>patients_admitted</a:t>
            </a:r>
            <a:r>
              <a:rPr lang="en-US" altLang="ru-RU" sz="2400" dirty="0">
                <a:latin typeface="Bahnschrift Light" panose="020B0502040204020203" pitchFamily="34" charset="0"/>
              </a:rPr>
              <a:t>, </a:t>
            </a:r>
            <a:r>
              <a:rPr lang="en-US" altLang="ru-RU" sz="2400" dirty="0" err="1">
                <a:latin typeface="Bahnschrift Light" panose="020B0502040204020203" pitchFamily="34" charset="0"/>
              </a:rPr>
              <a:t>patients_refused</a:t>
            </a:r>
            <a:r>
              <a:rPr lang="en-US" altLang="ru-RU" sz="2400" dirty="0">
                <a:latin typeface="Bahnschrift Light" panose="020B0502040204020203" pitchFamily="34" charset="0"/>
              </a:rPr>
              <a:t>, </a:t>
            </a:r>
            <a:r>
              <a:rPr lang="en-US" altLang="ru-RU" sz="2400" dirty="0" err="1">
                <a:latin typeface="Bahnschrift Light" panose="020B0502040204020203" pitchFamily="34" charset="0"/>
              </a:rPr>
              <a:t>patient_satisfaction</a:t>
            </a:r>
            <a:r>
              <a:rPr lang="en-US" altLang="ru-RU" sz="2400" dirty="0">
                <a:latin typeface="Bahnschrift Light" panose="020B0502040204020203" pitchFamily="34" charset="0"/>
              </a:rPr>
              <a:t>, </a:t>
            </a:r>
            <a:r>
              <a:rPr lang="en-US" altLang="ru-RU" sz="2400" dirty="0" err="1">
                <a:latin typeface="Bahnschrift Light" panose="020B0502040204020203" pitchFamily="34" charset="0"/>
              </a:rPr>
              <a:t>staff_morale</a:t>
            </a:r>
            <a:r>
              <a:rPr lang="en-US" altLang="ru-RU" sz="2400" dirty="0">
                <a:latin typeface="Bahnschrift Light" panose="020B0502040204020203" pitchFamily="34" charset="0"/>
              </a:rPr>
              <a:t>, event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3175111-CBE3-4148-B4E7-92CF8B5C5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B6BE2F-2D5D-4132-9D39-ACECE3C74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70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3DA40-8632-44D4-B553-2AB1E54C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Целевая переменная и баланс классов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3D225E-0E67-48AC-816C-E7DC99C47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1861" y="1975516"/>
            <a:ext cx="923985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dirty="0">
                <a:latin typeface="Bahnschrift Light" panose="020B0502040204020203" pitchFamily="34" charset="0"/>
              </a:rPr>
              <a:t>Целевая переменная: </a:t>
            </a:r>
            <a:r>
              <a:rPr lang="ru-RU" altLang="ru-RU" sz="2400" dirty="0" err="1">
                <a:latin typeface="Bahnschrift Light" panose="020B0502040204020203" pitchFamily="34" charset="0"/>
              </a:rPr>
              <a:t>refused_flag</a:t>
            </a:r>
            <a:r>
              <a:rPr lang="ru-RU" altLang="ru-RU" sz="2400" dirty="0">
                <a:latin typeface="Bahnschrift Light" panose="020B0502040204020203" pitchFamily="34" charset="0"/>
              </a:rPr>
              <a:t> = (</a:t>
            </a:r>
            <a:r>
              <a:rPr lang="ru-RU" altLang="ru-RU" sz="2400" dirty="0" err="1">
                <a:latin typeface="Bahnschrift Light" panose="020B0502040204020203" pitchFamily="34" charset="0"/>
              </a:rPr>
              <a:t>patients_refused</a:t>
            </a:r>
            <a:r>
              <a:rPr lang="ru-RU" altLang="ru-RU" sz="2400" dirty="0">
                <a:latin typeface="Bahnschrift Light" panose="020B0502040204020203" pitchFamily="34" charset="0"/>
              </a:rPr>
              <a:t> &gt; 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ru-RU" altLang="ru-RU" sz="2400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2400" dirty="0">
                <a:latin typeface="Bahnschrift Light" panose="020B0502040204020203" pitchFamily="34" charset="0"/>
              </a:rPr>
              <a:t>Определим так: она отвечает на вопрос “Был ли хотя бы один отказ в госпитализации за эту неделю для данной больницы?”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ru-RU" altLang="ru-RU" sz="2400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2400" dirty="0">
                <a:latin typeface="Bahnschrift Light" panose="020B0502040204020203" pitchFamily="34" charset="0"/>
              </a:rPr>
              <a:t>Больница за неделю не отказала </a:t>
            </a:r>
            <a:r>
              <a:rPr lang="ru-RU" altLang="ru-RU" sz="2400" u="sng" dirty="0">
                <a:latin typeface="Bahnschrift Light" panose="020B0502040204020203" pitchFamily="34" charset="0"/>
              </a:rPr>
              <a:t>ни одному пациенту </a:t>
            </a:r>
            <a:r>
              <a:rPr lang="ru-RU" altLang="ru-RU" sz="2400" dirty="0">
                <a:latin typeface="Bahnschrift Light" panose="020B0502040204020203" pitchFamily="34" charset="0"/>
              </a:rPr>
              <a:t>(то есть всех приняла) - 0,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2400" dirty="0">
                <a:latin typeface="Bahnschrift Light" panose="020B0502040204020203" pitchFamily="34" charset="0"/>
              </a:rPr>
              <a:t>Больница за неделю отказала </a:t>
            </a:r>
            <a:r>
              <a:rPr lang="ru-RU" altLang="ru-RU" sz="2400" u="sng" dirty="0">
                <a:latin typeface="Bahnschrift Light" panose="020B0502040204020203" pitchFamily="34" charset="0"/>
              </a:rPr>
              <a:t>хотя бы одному пациенту</a:t>
            </a:r>
            <a:r>
              <a:rPr lang="ru-RU" altLang="ru-RU" sz="2400" dirty="0">
                <a:latin typeface="Bahnschrift Light" panose="020B0502040204020203" pitchFamily="34" charset="0"/>
              </a:rPr>
              <a:t> - 1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ru-RU" altLang="ru-RU" sz="2400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2400" dirty="0">
                <a:latin typeface="Bahnschrift Light" panose="020B0502040204020203" pitchFamily="34" charset="0"/>
              </a:rPr>
              <a:t>Баланс: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2400" dirty="0">
                <a:latin typeface="Bahnschrift Light" panose="020B0502040204020203" pitchFamily="34" charset="0"/>
              </a:rPr>
              <a:t>148 — 1 (есть отказ),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2400" dirty="0">
                <a:latin typeface="Bahnschrift Light" panose="020B0502040204020203" pitchFamily="34" charset="0"/>
              </a:rPr>
              <a:t>60 — 0 (нет отказа)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3175111-CBE3-4148-B4E7-92CF8B5C5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B6BE2F-2D5D-4132-9D39-ACECE3C74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34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3508D-6BD2-4052-A8E4-239481A02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Признаки. </a:t>
            </a:r>
            <a:r>
              <a:rPr lang="ru-RU" dirty="0" err="1">
                <a:latin typeface="Bahnschrift Light" panose="020B0502040204020203" pitchFamily="34" charset="0"/>
              </a:rPr>
              <a:t>Гиперпараметры</a:t>
            </a:r>
            <a:r>
              <a:rPr lang="ru-RU" dirty="0">
                <a:latin typeface="Bahnschrift Light" panose="020B0502040204020203" pitchFamily="34" charset="0"/>
              </a:rPr>
              <a:t> </a:t>
            </a:r>
            <a:r>
              <a:rPr lang="en-US" dirty="0" err="1">
                <a:latin typeface="Bahnschrift Light" panose="020B0502040204020203" pitchFamily="34" charset="0"/>
              </a:rPr>
              <a:t>RandomForest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773458E-8E16-4322-83E1-E6C1C27E85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8120" y="1894960"/>
            <a:ext cx="992570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Категории: 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service, event → </a:t>
            </a:r>
            <a:r>
              <a:rPr kumimoji="0" lang="en-US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OneHotEncoder</a:t>
            </a:r>
            <a:endParaRPr kumimoji="0" lang="en-US" alt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ru-RU" altLang="ru-RU" sz="2400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Числовые: 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week, month, </a:t>
            </a:r>
            <a:r>
              <a:rPr kumimoji="0" lang="en-US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available_beds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kumimoji="0" lang="en-US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patients_request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kumimoji="0" lang="en-US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patients_admitted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kumimoji="0" lang="en-US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patient_satisfaction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kumimoji="0" lang="en-US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staff_morale</a:t>
            </a:r>
            <a:endParaRPr kumimoji="0" lang="en-US" alt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ru-RU" altLang="ru-RU" sz="2400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Pipeline: </a:t>
            </a:r>
            <a:r>
              <a:rPr kumimoji="0" lang="en-US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ColumnTransformer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(OHE) → </a:t>
            </a:r>
            <a:r>
              <a:rPr kumimoji="0" lang="en-US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RandomForest</a:t>
            </a:r>
            <a:endParaRPr kumimoji="0" lang="en-US" alt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ru-RU" sz="2400" dirty="0"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Гиперпараметры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RandomForest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(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перечень)</a:t>
            </a:r>
            <a:r>
              <a:rPr lang="en-US" altLang="ru-RU" sz="2400" dirty="0">
                <a:latin typeface="Bahnschrift Light" panose="020B05020402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2400" dirty="0">
                <a:latin typeface="Bahnschrift Light" panose="020B0502040204020203" pitchFamily="34" charset="0"/>
              </a:rPr>
              <a:t>Подбор: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240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n_estimators</a:t>
            </a:r>
            <a:r>
              <a:rPr kumimoji="0" lang="en-US" altLang="ru-RU" sz="240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— 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количество деревьев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kumimoji="0" lang="en-US" altLang="ru-RU" sz="240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max_depth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— 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глубина</a:t>
            </a:r>
            <a:r>
              <a:rPr lang="en-US" altLang="ru-RU" sz="2400" dirty="0">
                <a:latin typeface="Bahnschrift Light" panose="020B0502040204020203" pitchFamily="34" charset="0"/>
              </a:rPr>
              <a:t>, </a:t>
            </a:r>
            <a:r>
              <a:rPr kumimoji="0" lang="en-US" altLang="ru-RU" sz="240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min_samples_split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kumimoji="0" lang="en-US" altLang="ru-RU" sz="240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min_samples_leaf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kumimoji="0" lang="en-US" altLang="ru-RU" sz="240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max_features</a:t>
            </a:r>
            <a:r>
              <a:rPr kumimoji="0" lang="en-US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kumimoji="0" lang="en-US" altLang="ru-RU" sz="24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criterion</a:t>
            </a:r>
            <a:endParaRPr kumimoji="0" lang="ru-RU" altLang="ru-RU" sz="240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889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40346E-2196-42DC-B4AB-71DC2230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Методы поиска </a:t>
            </a:r>
            <a:r>
              <a:rPr lang="ru-RU" dirty="0" err="1">
                <a:latin typeface="Bahnschrift Light" panose="020B0502040204020203" pitchFamily="34" charset="0"/>
              </a:rPr>
              <a:t>гиперпараметров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505F61-8635-4FB1-B8C0-A3B122776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7811" y="1441920"/>
            <a:ext cx="937637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ru-RU" altLang="ru-RU" sz="2400" dirty="0" err="1">
                <a:latin typeface="Bahnschrift Light" panose="020B0502040204020203" pitchFamily="34" charset="0"/>
              </a:rPr>
              <a:t>GridSearchCV</a:t>
            </a:r>
            <a:r>
              <a:rPr lang="ru-RU" altLang="ru-RU" sz="2400" dirty="0">
                <a:latin typeface="Bahnschrift Light" panose="020B0502040204020203" pitchFamily="34" charset="0"/>
              </a:rPr>
              <a:t> — полный перебор (детерминирован). Перебирает все возможные комбинации указанных </a:t>
            </a:r>
            <a:r>
              <a:rPr lang="ru-RU" altLang="ru-RU" sz="2400" dirty="0" err="1">
                <a:latin typeface="Bahnschrift Light" panose="020B0502040204020203" pitchFamily="34" charset="0"/>
              </a:rPr>
              <a:t>гиперпараметров</a:t>
            </a:r>
            <a:r>
              <a:rPr lang="ru-RU" altLang="ru-RU" sz="2400" dirty="0">
                <a:latin typeface="Bahnschrift Light" panose="020B0502040204020203" pitchFamily="34" charset="0"/>
              </a:rPr>
              <a:t>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ru-RU" altLang="ru-RU" sz="2400" dirty="0" err="1">
                <a:latin typeface="Bahnschrift Light" panose="020B0502040204020203" pitchFamily="34" charset="0"/>
              </a:rPr>
              <a:t>RandomizedSearchCV</a:t>
            </a:r>
            <a:r>
              <a:rPr lang="ru-RU" altLang="ru-RU" sz="2400" dirty="0">
                <a:latin typeface="Bahnschrift Light" panose="020B0502040204020203" pitchFamily="34" charset="0"/>
              </a:rPr>
              <a:t> — случайная выборка комбинаций (быстрее). Выбираем случайные комбинации </a:t>
            </a:r>
            <a:r>
              <a:rPr lang="ru-RU" altLang="ru-RU" sz="2400" dirty="0" err="1">
                <a:latin typeface="Bahnschrift Light" panose="020B0502040204020203" pitchFamily="34" charset="0"/>
              </a:rPr>
              <a:t>гиперпараметров</a:t>
            </a:r>
            <a:r>
              <a:rPr lang="ru-RU" altLang="ru-RU" sz="2400" dirty="0">
                <a:latin typeface="Bahnschrift Light" panose="020B0502040204020203" pitchFamily="34" charset="0"/>
              </a:rPr>
              <a:t> из заранее определённых диапазонов.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ru-RU" altLang="ru-RU" sz="2400" dirty="0" err="1">
                <a:latin typeface="Bahnschrift Light" panose="020B0502040204020203" pitchFamily="34" charset="0"/>
              </a:rPr>
              <a:t>Optuna</a:t>
            </a:r>
            <a:r>
              <a:rPr lang="ru-RU" altLang="ru-RU" sz="2400" dirty="0">
                <a:latin typeface="Bahnschrift Light" panose="020B0502040204020203" pitchFamily="34" charset="0"/>
              </a:rPr>
              <a:t> — последовательная оптимизация (интеллектуальный поиск). Строим вероятностную модель функции потерь и используем её, чтобы выбирать новые </a:t>
            </a:r>
            <a:r>
              <a:rPr lang="ru-RU" altLang="ru-RU" sz="2400" dirty="0" err="1">
                <a:latin typeface="Bahnschrift Light" panose="020B0502040204020203" pitchFamily="34" charset="0"/>
              </a:rPr>
              <a:t>гиперпараметры</a:t>
            </a:r>
            <a:r>
              <a:rPr lang="ru-RU" altLang="ru-RU" sz="2400" dirty="0">
                <a:latin typeface="Bahnschrift Light" panose="020B0502040204020203" pitchFamily="34" charset="0"/>
              </a:rPr>
              <a:t> «умнее», чем случайно.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endParaRPr lang="ru-RU" altLang="ru-RU" sz="2400" dirty="0">
              <a:latin typeface="Bahnschrift Light" panose="020B0502040204020203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dirty="0">
                <a:latin typeface="Bahnschrift Light" panose="020B0502040204020203" pitchFamily="34" charset="0"/>
              </a:rPr>
              <a:t>Grid — гарантированно переберет сетку, </a:t>
            </a:r>
            <a:r>
              <a:rPr lang="ru-RU" altLang="ru-RU" sz="2400" dirty="0" err="1">
                <a:latin typeface="Bahnschrift Light" panose="020B0502040204020203" pitchFamily="34" charset="0"/>
              </a:rPr>
              <a:t>Randomized</a:t>
            </a:r>
            <a:r>
              <a:rPr lang="ru-RU" altLang="ru-RU" sz="2400" dirty="0">
                <a:latin typeface="Bahnschrift Light" panose="020B0502040204020203" pitchFamily="34" charset="0"/>
              </a:rPr>
              <a:t> — экономит время, </a:t>
            </a:r>
            <a:r>
              <a:rPr lang="ru-RU" altLang="ru-RU" sz="2400" dirty="0" err="1">
                <a:latin typeface="Bahnschrift Light" panose="020B0502040204020203" pitchFamily="34" charset="0"/>
              </a:rPr>
              <a:t>Optuna</a:t>
            </a:r>
            <a:r>
              <a:rPr lang="ru-RU" altLang="ru-RU" sz="2400" dirty="0">
                <a:latin typeface="Bahnschrift Light" panose="020B0502040204020203" pitchFamily="34" charset="0"/>
              </a:rPr>
              <a:t> — часто даёт хорошие результаты при ограниченном бюджете.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82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B4CA8-3E1D-4AC5-B571-7948789D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96ED00-8DDA-493E-9F8B-35FF5779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25" y="1885285"/>
            <a:ext cx="10239375" cy="3997828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Bahnschrift Light" panose="020B0502040204020203" pitchFamily="34" charset="0"/>
              </a:rPr>
              <a:t>GridSearchCV</a:t>
            </a:r>
            <a:r>
              <a:rPr lang="en-US" sz="2400" dirty="0">
                <a:latin typeface="Bahnschrift Light" panose="020B0502040204020203" pitchFamily="34" charset="0"/>
              </a:rPr>
              <a:t> – the best! -&gt; </a:t>
            </a:r>
            <a:r>
              <a:rPr lang="ru-RU" sz="2400" dirty="0">
                <a:latin typeface="Bahnschrift Light" panose="020B0502040204020203" pitchFamily="34" charset="0"/>
              </a:rPr>
              <a:t>выбираем как финальную модель</a:t>
            </a:r>
            <a:endParaRPr lang="en-US" sz="2400" dirty="0">
              <a:latin typeface="Bahnschrift Light" panose="020B0502040204020203" pitchFamily="34" charset="0"/>
            </a:endParaRPr>
          </a:p>
          <a:p>
            <a:pPr marL="450850" lvl="1" indent="0">
              <a:buNone/>
            </a:pPr>
            <a:r>
              <a:rPr lang="en-US" dirty="0">
                <a:latin typeface="Bahnschrift Light" panose="020B0502040204020203" pitchFamily="34" charset="0"/>
              </a:rPr>
              <a:t>test </a:t>
            </a:r>
            <a:r>
              <a:rPr lang="en-US" dirty="0" err="1">
                <a:latin typeface="Bahnschrift Light" panose="020B0502040204020203" pitchFamily="34" charset="0"/>
              </a:rPr>
              <a:t>acccuracy</a:t>
            </a:r>
            <a:r>
              <a:rPr lang="en-US" dirty="0">
                <a:latin typeface="Bahnschrift Light" panose="020B0502040204020203" pitchFamily="34" charset="0"/>
              </a:rPr>
              <a:t>: 0.8809523809523809,</a:t>
            </a:r>
            <a:r>
              <a:rPr lang="ru-RU" dirty="0">
                <a:latin typeface="Bahnschrift Light" panose="020B0502040204020203" pitchFamily="34" charset="0"/>
              </a:rPr>
              <a:t>      </a:t>
            </a:r>
            <a:r>
              <a:rPr lang="en-US" dirty="0">
                <a:latin typeface="Bahnschrift Light" panose="020B0502040204020203" pitchFamily="34" charset="0"/>
              </a:rPr>
              <a:t>{'criterion': 'entropy', '</a:t>
            </a:r>
            <a:r>
              <a:rPr lang="en-US" dirty="0" err="1">
                <a:latin typeface="Bahnschrift Light" panose="020B0502040204020203" pitchFamily="34" charset="0"/>
              </a:rPr>
              <a:t>max_depth</a:t>
            </a:r>
            <a:r>
              <a:rPr lang="en-US" dirty="0">
                <a:latin typeface="Bahnschrift Light" panose="020B0502040204020203" pitchFamily="34" charset="0"/>
              </a:rPr>
              <a:t>': 5, '</a:t>
            </a:r>
            <a:r>
              <a:rPr lang="en-US" dirty="0" err="1">
                <a:latin typeface="Bahnschrift Light" panose="020B0502040204020203" pitchFamily="34" charset="0"/>
              </a:rPr>
              <a:t>max_features</a:t>
            </a:r>
            <a:r>
              <a:rPr lang="en-US" dirty="0">
                <a:latin typeface="Bahnschrift Light" panose="020B0502040204020203" pitchFamily="34" charset="0"/>
              </a:rPr>
              <a:t>': None, '</a:t>
            </a:r>
            <a:r>
              <a:rPr lang="en-US" dirty="0" err="1">
                <a:latin typeface="Bahnschrift Light" panose="020B0502040204020203" pitchFamily="34" charset="0"/>
              </a:rPr>
              <a:t>min_samples_leaf</a:t>
            </a:r>
            <a:r>
              <a:rPr lang="en-US" dirty="0">
                <a:latin typeface="Bahnschrift Light" panose="020B0502040204020203" pitchFamily="34" charset="0"/>
              </a:rPr>
              <a:t>': 1, '</a:t>
            </a:r>
            <a:r>
              <a:rPr lang="en-US" dirty="0" err="1">
                <a:latin typeface="Bahnschrift Light" panose="020B0502040204020203" pitchFamily="34" charset="0"/>
              </a:rPr>
              <a:t>min_samples_split</a:t>
            </a:r>
            <a:r>
              <a:rPr lang="en-US" dirty="0">
                <a:latin typeface="Bahnschrift Light" panose="020B0502040204020203" pitchFamily="34" charset="0"/>
              </a:rPr>
              <a:t>': 2, '</a:t>
            </a:r>
            <a:r>
              <a:rPr lang="en-US" dirty="0" err="1">
                <a:latin typeface="Bahnschrift Light" panose="020B0502040204020203" pitchFamily="34" charset="0"/>
              </a:rPr>
              <a:t>n_estimators</a:t>
            </a:r>
            <a:r>
              <a:rPr lang="en-US" dirty="0">
                <a:latin typeface="Bahnschrift Light" panose="020B0502040204020203" pitchFamily="34" charset="0"/>
              </a:rPr>
              <a:t>': 100}</a:t>
            </a:r>
          </a:p>
          <a:p>
            <a:r>
              <a:rPr lang="en-US" sz="2400" dirty="0" err="1">
                <a:latin typeface="Bahnschrift Light" panose="020B0502040204020203" pitchFamily="34" charset="0"/>
              </a:rPr>
              <a:t>RandomizedSearchCV</a:t>
            </a:r>
            <a:endParaRPr lang="en-US" sz="2400" dirty="0">
              <a:latin typeface="Bahnschrift Light" panose="020B0502040204020203" pitchFamily="34" charset="0"/>
            </a:endParaRPr>
          </a:p>
          <a:p>
            <a:pPr marL="450850" lvl="1" indent="0">
              <a:buNone/>
            </a:pPr>
            <a:r>
              <a:rPr lang="en-US" dirty="0">
                <a:latin typeface="Bahnschrift Light" panose="020B0502040204020203" pitchFamily="34" charset="0"/>
              </a:rPr>
              <a:t>test accuracy: 0.8571428571428571,</a:t>
            </a:r>
            <a:r>
              <a:rPr lang="ru-RU" dirty="0">
                <a:latin typeface="Bahnschrift Light" panose="020B0502040204020203" pitchFamily="34" charset="0"/>
              </a:rPr>
              <a:t>     </a:t>
            </a:r>
            <a:r>
              <a:rPr lang="en-US" dirty="0">
                <a:latin typeface="Bahnschrift Light" panose="020B0502040204020203" pitchFamily="34" charset="0"/>
              </a:rPr>
              <a:t> {'criterion': 'entropy', '</a:t>
            </a:r>
            <a:r>
              <a:rPr lang="en-US" dirty="0" err="1">
                <a:latin typeface="Bahnschrift Light" panose="020B0502040204020203" pitchFamily="34" charset="0"/>
              </a:rPr>
              <a:t>max_depth</a:t>
            </a:r>
            <a:r>
              <a:rPr lang="en-US" dirty="0">
                <a:latin typeface="Bahnschrift Light" panose="020B0502040204020203" pitchFamily="34" charset="0"/>
              </a:rPr>
              <a:t>': 20, '</a:t>
            </a:r>
            <a:r>
              <a:rPr lang="en-US" dirty="0" err="1">
                <a:latin typeface="Bahnschrift Light" panose="020B0502040204020203" pitchFamily="34" charset="0"/>
              </a:rPr>
              <a:t>max_features</a:t>
            </a:r>
            <a:r>
              <a:rPr lang="en-US" dirty="0">
                <a:latin typeface="Bahnschrift Light" panose="020B0502040204020203" pitchFamily="34" charset="0"/>
              </a:rPr>
              <a:t>': None, '</a:t>
            </a:r>
            <a:r>
              <a:rPr lang="en-US" dirty="0" err="1">
                <a:latin typeface="Bahnschrift Light" panose="020B0502040204020203" pitchFamily="34" charset="0"/>
              </a:rPr>
              <a:t>min_samples_leaf</a:t>
            </a:r>
            <a:r>
              <a:rPr lang="en-US" dirty="0">
                <a:latin typeface="Bahnschrift Light" panose="020B0502040204020203" pitchFamily="34" charset="0"/>
              </a:rPr>
              <a:t>': 3, '</a:t>
            </a:r>
            <a:r>
              <a:rPr lang="en-US" dirty="0" err="1">
                <a:latin typeface="Bahnschrift Light" panose="020B0502040204020203" pitchFamily="34" charset="0"/>
              </a:rPr>
              <a:t>min_samples_split</a:t>
            </a:r>
            <a:r>
              <a:rPr lang="en-US" dirty="0">
                <a:latin typeface="Bahnschrift Light" panose="020B0502040204020203" pitchFamily="34" charset="0"/>
              </a:rPr>
              <a:t>': 2, ‘</a:t>
            </a:r>
            <a:r>
              <a:rPr lang="en-US" dirty="0" err="1">
                <a:latin typeface="Bahnschrift Light" panose="020B0502040204020203" pitchFamily="34" charset="0"/>
              </a:rPr>
              <a:t>n_estimators</a:t>
            </a:r>
            <a:r>
              <a:rPr lang="en-US" dirty="0">
                <a:latin typeface="Bahnschrift Light" panose="020B0502040204020203" pitchFamily="34" charset="0"/>
              </a:rPr>
              <a:t>': 185}</a:t>
            </a:r>
          </a:p>
          <a:p>
            <a:r>
              <a:rPr lang="en-US" sz="2400" dirty="0" err="1">
                <a:latin typeface="Bahnschrift Light" panose="020B0502040204020203" pitchFamily="34" charset="0"/>
              </a:rPr>
              <a:t>Optuna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</a:p>
          <a:p>
            <a:pPr marL="450850" lvl="1" indent="0">
              <a:buNone/>
            </a:pPr>
            <a:r>
              <a:rPr lang="en-US" dirty="0">
                <a:latin typeface="Bahnschrift Light" panose="020B0502040204020203" pitchFamily="34" charset="0"/>
              </a:rPr>
              <a:t>test accuracy: 0.8095238095238095, </a:t>
            </a:r>
            <a:r>
              <a:rPr lang="ru-RU" dirty="0">
                <a:latin typeface="Bahnschrift Light" panose="020B0502040204020203" pitchFamily="34" charset="0"/>
              </a:rPr>
              <a:t>     </a:t>
            </a:r>
            <a:r>
              <a:rPr lang="en-US" dirty="0">
                <a:latin typeface="Bahnschrift Light" panose="020B0502040204020203" pitchFamily="34" charset="0"/>
              </a:rPr>
              <a:t>{'</a:t>
            </a:r>
            <a:r>
              <a:rPr lang="en-US" dirty="0" err="1">
                <a:latin typeface="Bahnschrift Light" panose="020B0502040204020203" pitchFamily="34" charset="0"/>
              </a:rPr>
              <a:t>n_estimators</a:t>
            </a:r>
            <a:r>
              <a:rPr lang="en-US" dirty="0">
                <a:latin typeface="Bahnschrift Light" panose="020B0502040204020203" pitchFamily="34" charset="0"/>
              </a:rPr>
              <a:t>': 86, '</a:t>
            </a:r>
            <a:r>
              <a:rPr lang="en-US" dirty="0" err="1">
                <a:latin typeface="Bahnschrift Light" panose="020B0502040204020203" pitchFamily="34" charset="0"/>
              </a:rPr>
              <a:t>max_depth</a:t>
            </a:r>
            <a:r>
              <a:rPr lang="en-US" dirty="0">
                <a:latin typeface="Bahnschrift Light" panose="020B0502040204020203" pitchFamily="34" charset="0"/>
              </a:rPr>
              <a:t>': 20, '</a:t>
            </a:r>
            <a:r>
              <a:rPr lang="en-US" dirty="0" err="1">
                <a:latin typeface="Bahnschrift Light" panose="020B0502040204020203" pitchFamily="34" charset="0"/>
              </a:rPr>
              <a:t>min_samples_split</a:t>
            </a:r>
            <a:r>
              <a:rPr lang="en-US" dirty="0">
                <a:latin typeface="Bahnschrift Light" panose="020B0502040204020203" pitchFamily="34" charset="0"/>
              </a:rPr>
              <a:t>': 8, '</a:t>
            </a:r>
            <a:r>
              <a:rPr lang="en-US" dirty="0" err="1">
                <a:latin typeface="Bahnschrift Light" panose="020B0502040204020203" pitchFamily="34" charset="0"/>
              </a:rPr>
              <a:t>min_samples_leaf</a:t>
            </a:r>
            <a:r>
              <a:rPr lang="en-US" dirty="0">
                <a:latin typeface="Bahnschrift Light" panose="020B0502040204020203" pitchFamily="34" charset="0"/>
              </a:rPr>
              <a:t>': 1, '</a:t>
            </a:r>
            <a:r>
              <a:rPr lang="en-US" dirty="0" err="1">
                <a:latin typeface="Bahnschrift Light" panose="020B0502040204020203" pitchFamily="34" charset="0"/>
              </a:rPr>
              <a:t>max_features</a:t>
            </a:r>
            <a:r>
              <a:rPr lang="en-US" dirty="0">
                <a:latin typeface="Bahnschrift Light" panose="020B0502040204020203" pitchFamily="34" charset="0"/>
              </a:rPr>
              <a:t>': 'log2', 'criterion': 'entropy'}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54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4C3C4-4A4F-4BCF-AE15-E6A35DCE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Локальная интерпретация: </a:t>
            </a:r>
            <a:r>
              <a:rPr lang="en-US" dirty="0">
                <a:latin typeface="Bahnschrift Light" panose="020B0502040204020203" pitchFamily="34" charset="0"/>
              </a:rPr>
              <a:t>LIME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505BB8-5696-43A2-BB33-979F93DC7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1525" y="2166416"/>
            <a:ext cx="3067050" cy="3997828"/>
          </a:xfrm>
        </p:spPr>
        <p:txBody>
          <a:bodyPr>
            <a:normAutofit fontScale="92500" lnSpcReduction="20000"/>
          </a:bodyPr>
          <a:lstStyle/>
          <a:p>
            <a:r>
              <a:rPr lang="ru-RU" u="sng" dirty="0">
                <a:latin typeface="Bahnschrift Light" panose="020B0502040204020203" pitchFamily="34" charset="0"/>
              </a:rPr>
              <a:t>Что делает: </a:t>
            </a:r>
            <a:r>
              <a:rPr lang="ru-RU" dirty="0">
                <a:latin typeface="Bahnschrift Light" panose="020B0502040204020203" pitchFamily="34" charset="0"/>
              </a:rPr>
              <a:t>объясняет предсказание для одной строки (локально).</a:t>
            </a:r>
          </a:p>
          <a:p>
            <a:r>
              <a:rPr lang="ru-RU" u="sng" dirty="0">
                <a:latin typeface="Bahnschrift Light" panose="020B0502040204020203" pitchFamily="34" charset="0"/>
              </a:rPr>
              <a:t>Пример:</a:t>
            </a:r>
            <a:r>
              <a:rPr lang="ru-RU" dirty="0">
                <a:latin typeface="Bahnschrift Light" panose="020B0502040204020203" pitchFamily="34" charset="0"/>
              </a:rPr>
              <a:t> показан вывод LIME для 38-й недели: </a:t>
            </a:r>
            <a:r>
              <a:rPr lang="ru-RU" dirty="0" err="1">
                <a:latin typeface="Bahnschrift Light" panose="020B0502040204020203" pitchFamily="34" charset="0"/>
              </a:rPr>
              <a:t>patients_request</a:t>
            </a:r>
            <a:r>
              <a:rPr lang="ru-RU" dirty="0">
                <a:latin typeface="Bahnschrift Light" panose="020B0502040204020203" pitchFamily="34" charset="0"/>
              </a:rPr>
              <a:t> и </a:t>
            </a:r>
            <a:r>
              <a:rPr lang="ru-RU" dirty="0" err="1">
                <a:latin typeface="Bahnschrift Light" panose="020B0502040204020203" pitchFamily="34" charset="0"/>
              </a:rPr>
              <a:t>available_beds</a:t>
            </a:r>
            <a:r>
              <a:rPr lang="ru-RU" dirty="0">
                <a:latin typeface="Bahnschrift Light" panose="020B0502040204020203" pitchFamily="34" charset="0"/>
              </a:rPr>
              <a:t> дали наибольший вклад в сторону отказа.</a:t>
            </a:r>
          </a:p>
          <a:p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80B0DC-48AE-4B35-B6BE-1D73FA51B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1906569"/>
            <a:ext cx="736282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23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C8100-1F86-4C6C-91AB-5D2C48BB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Глобальная интерпретация: </a:t>
            </a:r>
            <a:r>
              <a:rPr lang="en-US" dirty="0">
                <a:latin typeface="Bahnschrift Light" panose="020B0502040204020203" pitchFamily="34" charset="0"/>
              </a:rPr>
              <a:t>SHAP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A182D-95A8-47DC-9DEB-2AA434D75489}"/>
              </a:ext>
            </a:extLst>
          </p:cNvPr>
          <p:cNvSpPr txBox="1"/>
          <p:nvPr/>
        </p:nvSpPr>
        <p:spPr>
          <a:xfrm>
            <a:off x="1333500" y="1523335"/>
            <a:ext cx="95250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latin typeface="Bahnschrift Light" panose="020B0502040204020203" pitchFamily="34" charset="0"/>
              </a:rPr>
              <a:t>(SHAP - </a:t>
            </a:r>
            <a:r>
              <a:rPr lang="en-US" sz="2400" u="sng" dirty="0" err="1">
                <a:latin typeface="Bahnschrift Light" panose="020B0502040204020203" pitchFamily="34" charset="0"/>
              </a:rPr>
              <a:t>SHapley</a:t>
            </a:r>
            <a:r>
              <a:rPr lang="en-US" sz="2400" u="sng" dirty="0">
                <a:latin typeface="Bahnschrift Light" panose="020B0502040204020203" pitchFamily="34" charset="0"/>
              </a:rPr>
              <a:t> Additive </a:t>
            </a:r>
            <a:r>
              <a:rPr lang="en-US" sz="2400" u="sng" dirty="0" err="1">
                <a:latin typeface="Bahnschrift Light" panose="020B0502040204020203" pitchFamily="34" charset="0"/>
              </a:rPr>
              <a:t>exPlanations</a:t>
            </a:r>
            <a:r>
              <a:rPr lang="en-US" sz="2400" u="sng" dirty="0">
                <a:latin typeface="Bahnschrift Light" panose="020B0502040204020203" pitchFamily="34" charset="0"/>
              </a:rPr>
              <a:t>). </a:t>
            </a:r>
            <a:r>
              <a:rPr lang="ru-RU" sz="2400" u="sng" dirty="0">
                <a:latin typeface="Bahnschrift Light" panose="020B0502040204020203" pitchFamily="34" charset="0"/>
              </a:rPr>
              <a:t>Что делает:</a:t>
            </a:r>
            <a:r>
              <a:rPr lang="ru-RU" sz="2400" dirty="0">
                <a:latin typeface="Bahnschrift Light" panose="020B0502040204020203" pitchFamily="34" charset="0"/>
              </a:rPr>
              <a:t> показывает средний, </a:t>
            </a:r>
            <a:r>
              <a:rPr lang="en-US" sz="2400" dirty="0">
                <a:latin typeface="Bahnschrift Light" panose="020B0502040204020203" pitchFamily="34" charset="0"/>
              </a:rPr>
              <a:t>“</a:t>
            </a:r>
            <a:r>
              <a:rPr lang="ru-RU" sz="2400" dirty="0">
                <a:latin typeface="Bahnschrift Light" panose="020B0502040204020203" pitchFamily="34" charset="0"/>
              </a:rPr>
              <a:t>глобальный</a:t>
            </a:r>
            <a:r>
              <a:rPr lang="en-US" sz="2400" dirty="0">
                <a:latin typeface="Bahnschrift Light" panose="020B0502040204020203" pitchFamily="34" charset="0"/>
              </a:rPr>
              <a:t>”</a:t>
            </a:r>
            <a:r>
              <a:rPr lang="ru-RU" sz="2400" dirty="0">
                <a:latin typeface="Bahnschrift Light" panose="020B0502040204020203" pitchFamily="34" charset="0"/>
              </a:rPr>
              <a:t> вклад признаков в предсказания модели.</a:t>
            </a:r>
          </a:p>
          <a:p>
            <a:endParaRPr lang="ru-RU" sz="2400" dirty="0">
              <a:latin typeface="Bahnschrift Light" panose="020B0502040204020203" pitchFamily="34" charset="0"/>
            </a:endParaRPr>
          </a:p>
          <a:p>
            <a:r>
              <a:rPr lang="ru-RU" sz="2400" u="sng" dirty="0">
                <a:latin typeface="Bahnschrift Light" panose="020B0502040204020203" pitchFamily="34" charset="0"/>
              </a:rPr>
              <a:t>Результат</a:t>
            </a:r>
            <a:r>
              <a:rPr lang="ru-RU" sz="2400" dirty="0">
                <a:latin typeface="Bahnschrift Light" panose="020B0502040204020203" pitchFamily="34" charset="0"/>
              </a:rPr>
              <a:t> </a:t>
            </a:r>
            <a:r>
              <a:rPr lang="en-US" sz="2400" dirty="0">
                <a:latin typeface="Bahnschrift Light" panose="020B0502040204020203" pitchFamily="34" charset="0"/>
              </a:rPr>
              <a:t>(</a:t>
            </a:r>
            <a:r>
              <a:rPr lang="ru-RU" sz="2400" dirty="0">
                <a:latin typeface="Bahnschrift Light" panose="020B0502040204020203" pitchFamily="34" charset="0"/>
              </a:rPr>
              <a:t>топ-признаки</a:t>
            </a:r>
            <a:r>
              <a:rPr lang="en-US" sz="2400" dirty="0">
                <a:latin typeface="Bahnschrift Light" panose="020B0502040204020203" pitchFamily="34" charset="0"/>
              </a:rPr>
              <a:t>)</a:t>
            </a:r>
            <a:r>
              <a:rPr lang="ru-RU" sz="2400" dirty="0">
                <a:latin typeface="Bahnschrift Light" panose="020B0502040204020203" pitchFamily="34" charset="0"/>
              </a:rPr>
              <a:t>:</a:t>
            </a:r>
            <a:br>
              <a:rPr lang="en-US" sz="2400" dirty="0">
                <a:latin typeface="Bahnschrift Light" panose="020B0502040204020203" pitchFamily="34" charset="0"/>
              </a:rPr>
            </a:br>
            <a:endParaRPr lang="ru-RU" sz="2400" dirty="0">
              <a:latin typeface="Bahnschrift Light" panose="020B0502040204020203" pitchFamily="34" charset="0"/>
            </a:endParaRPr>
          </a:p>
          <a:p>
            <a:pPr algn="ctr"/>
            <a:r>
              <a:rPr lang="en-US" sz="2000" dirty="0" err="1">
                <a:latin typeface="Bahnschrift Light" panose="020B0502040204020203" pitchFamily="34" charset="0"/>
              </a:rPr>
              <a:t>patients_request</a:t>
            </a:r>
            <a:r>
              <a:rPr lang="en-US" sz="2000" dirty="0">
                <a:latin typeface="Bahnschrift Light" panose="020B0502040204020203" pitchFamily="34" charset="0"/>
              </a:rPr>
              <a:t> 0.315</a:t>
            </a:r>
            <a:r>
              <a:rPr lang="ru-RU" sz="2000" dirty="0">
                <a:latin typeface="Bahnschrift Light" panose="020B0502040204020203" pitchFamily="34" charset="0"/>
              </a:rPr>
              <a:t> – </a:t>
            </a:r>
            <a:r>
              <a:rPr lang="ru-RU" sz="2000" b="1" dirty="0">
                <a:latin typeface="Bahnschrift Light" panose="020B0502040204020203" pitchFamily="34" charset="0"/>
              </a:rPr>
              <a:t>самый сильный</a:t>
            </a:r>
            <a:endParaRPr lang="en-US" sz="2000" b="1" dirty="0">
              <a:latin typeface="Bahnschrift Light" panose="020B0502040204020203" pitchFamily="34" charset="0"/>
            </a:endParaRPr>
          </a:p>
          <a:p>
            <a:pPr algn="ctr"/>
            <a:r>
              <a:rPr lang="en-US" sz="2000" dirty="0" err="1">
                <a:latin typeface="Bahnschrift Light" panose="020B0502040204020203" pitchFamily="34" charset="0"/>
              </a:rPr>
              <a:t>available_beds</a:t>
            </a:r>
            <a:r>
              <a:rPr lang="en-US" sz="2000" dirty="0">
                <a:latin typeface="Bahnschrift Light" panose="020B0502040204020203" pitchFamily="34" charset="0"/>
              </a:rPr>
              <a:t> 0.126 – </a:t>
            </a:r>
            <a:r>
              <a:rPr lang="ru-RU" sz="2000" b="1" dirty="0">
                <a:latin typeface="Bahnschrift Light" panose="020B0502040204020203" pitchFamily="34" charset="0"/>
              </a:rPr>
              <a:t>самый сильный</a:t>
            </a:r>
            <a:endParaRPr lang="en-US" sz="2000" b="1" dirty="0">
              <a:latin typeface="Bahnschrift Light" panose="020B0502040204020203" pitchFamily="34" charset="0"/>
            </a:endParaRPr>
          </a:p>
          <a:p>
            <a:pPr algn="ctr"/>
            <a:r>
              <a:rPr lang="en-US" sz="2000" dirty="0">
                <a:latin typeface="Bahnschrift Light" panose="020B0502040204020203" pitchFamily="34" charset="0"/>
              </a:rPr>
              <a:t>week 0.0078</a:t>
            </a:r>
          </a:p>
          <a:p>
            <a:pPr algn="ctr"/>
            <a:r>
              <a:rPr lang="en-US" sz="2000" dirty="0" err="1">
                <a:latin typeface="Bahnschrift Light" panose="020B0502040204020203" pitchFamily="34" charset="0"/>
              </a:rPr>
              <a:t>patients_admitted</a:t>
            </a:r>
            <a:r>
              <a:rPr lang="en-US" sz="2000" dirty="0">
                <a:latin typeface="Bahnschrift Light" panose="020B0502040204020203" pitchFamily="34" charset="0"/>
              </a:rPr>
              <a:t> 0.0047</a:t>
            </a:r>
          </a:p>
          <a:p>
            <a:pPr algn="ctr"/>
            <a:r>
              <a:rPr lang="en-US" sz="2000" dirty="0" err="1">
                <a:latin typeface="Bahnschrift Light" panose="020B0502040204020203" pitchFamily="34" charset="0"/>
              </a:rPr>
              <a:t>service_surgery</a:t>
            </a:r>
            <a:r>
              <a:rPr lang="en-US" sz="2000" dirty="0">
                <a:latin typeface="Bahnschrift Light" panose="020B0502040204020203" pitchFamily="34" charset="0"/>
              </a:rPr>
              <a:t> 0.003</a:t>
            </a:r>
          </a:p>
          <a:p>
            <a:pPr algn="ctr"/>
            <a:r>
              <a:rPr lang="en-US" sz="2000" dirty="0">
                <a:latin typeface="Bahnschrift Light" panose="020B0502040204020203" pitchFamily="34" charset="0"/>
              </a:rPr>
              <a:t>month 0.0024</a:t>
            </a:r>
          </a:p>
          <a:p>
            <a:pPr algn="ctr"/>
            <a:r>
              <a:rPr lang="en-US" sz="2000" dirty="0" err="1">
                <a:latin typeface="Bahnschrift Light" panose="020B0502040204020203" pitchFamily="34" charset="0"/>
              </a:rPr>
              <a:t>patient_satisfaction</a:t>
            </a:r>
            <a:r>
              <a:rPr lang="en-US" sz="2000" dirty="0">
                <a:latin typeface="Bahnschrift Light" panose="020B0502040204020203" pitchFamily="34" charset="0"/>
              </a:rPr>
              <a:t> 0.0024</a:t>
            </a:r>
          </a:p>
          <a:p>
            <a:pPr algn="ctr"/>
            <a:r>
              <a:rPr lang="en-US" sz="2000" dirty="0" err="1">
                <a:latin typeface="Bahnschrift Light" panose="020B0502040204020203" pitchFamily="34" charset="0"/>
              </a:rPr>
              <a:t>staff_morale</a:t>
            </a:r>
            <a:r>
              <a:rPr lang="en-US" sz="2000" dirty="0">
                <a:latin typeface="Bahnschrift Light" panose="020B0502040204020203" pitchFamily="34" charset="0"/>
              </a:rPr>
              <a:t> 0.0021</a:t>
            </a:r>
          </a:p>
          <a:p>
            <a:pPr algn="ctr"/>
            <a:r>
              <a:rPr lang="en-US" sz="2000" dirty="0" err="1">
                <a:latin typeface="Bahnschrift Light" panose="020B0502040204020203" pitchFamily="34" charset="0"/>
              </a:rPr>
              <a:t>service_general_medicine</a:t>
            </a:r>
            <a:r>
              <a:rPr lang="en-US" sz="2000" dirty="0">
                <a:latin typeface="Bahnschrift Light" panose="020B0502040204020203" pitchFamily="34" charset="0"/>
              </a:rPr>
              <a:t> 0.0007</a:t>
            </a:r>
          </a:p>
          <a:p>
            <a:pPr algn="ctr"/>
            <a:r>
              <a:rPr lang="en-US" sz="2000" dirty="0" err="1">
                <a:latin typeface="Bahnschrift Light" panose="020B0502040204020203" pitchFamily="34" charset="0"/>
              </a:rPr>
              <a:t>event_strike</a:t>
            </a:r>
            <a:r>
              <a:rPr lang="en-US" sz="2000" dirty="0">
                <a:latin typeface="Bahnschrift Light" panose="020B0502040204020203" pitchFamily="34" charset="0"/>
              </a:rPr>
              <a:t> 0.0002</a:t>
            </a:r>
            <a:br>
              <a:rPr lang="ru-RU" sz="2400" dirty="0">
                <a:latin typeface="Bahnschrift Light" panose="020B0502040204020203" pitchFamily="34" charset="0"/>
              </a:rPr>
            </a:br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81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C8100-1F86-4C6C-91AB-5D2C48BB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Глобальная интерпретация: </a:t>
            </a:r>
            <a:r>
              <a:rPr lang="en-US" dirty="0">
                <a:latin typeface="Bahnschrift Light" panose="020B0502040204020203" pitchFamily="34" charset="0"/>
              </a:rPr>
              <a:t>SHAP</a:t>
            </a:r>
            <a:r>
              <a:rPr lang="ru-RU" dirty="0">
                <a:latin typeface="Bahnschrift Light" panose="020B0502040204020203" pitchFamily="34" charset="0"/>
              </a:rPr>
              <a:t>. Визуализация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084DC4-4D44-4F71-AEE9-7DBF840C9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73" y="1964976"/>
            <a:ext cx="4957327" cy="47031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40692B-7A2E-41C0-BCCA-662B4B0C9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059" y="1964976"/>
            <a:ext cx="5014526" cy="470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88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{98E7BE6E-BDDB-4658-ADC9-F9CB298B046C}TF37254b02-f5b5-44b0-803d-e6af9466a02430b15390-63aae61ef10a</Template>
  <TotalTime>210</TotalTime>
  <Words>686</Words>
  <Application>Microsoft Office PowerPoint</Application>
  <PresentationFormat>Широкоэкранный</PresentationFormat>
  <Paragraphs>68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Bahnschrift Light</vt:lpstr>
      <vt:lpstr>MS Shell Dlg 2</vt:lpstr>
      <vt:lpstr>Wingdings</vt:lpstr>
      <vt:lpstr>Wingdings 3</vt:lpstr>
      <vt:lpstr>Мэдисон</vt:lpstr>
      <vt:lpstr>ML. Лабораторная работа №3.  Подбор гиперпараметров модели. </vt:lpstr>
      <vt:lpstr>Цель и задачи</vt:lpstr>
      <vt:lpstr>Датасет и данные</vt:lpstr>
      <vt:lpstr>Целевая переменная и баланс классов</vt:lpstr>
      <vt:lpstr>Признаки. Гиперпараметры RandomForest</vt:lpstr>
      <vt:lpstr>Методы поиска гиперпараметров</vt:lpstr>
      <vt:lpstr>Результаты</vt:lpstr>
      <vt:lpstr>Локальная интерпретация: LIME</vt:lpstr>
      <vt:lpstr>Глобальная интерпретация: SHAP</vt:lpstr>
      <vt:lpstr>Глобальная интерпретация: SHAP. Визуализация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ML. Лабораторная работа №1.  Предсказание итоговой оценки студентов — лучшая модель</dc:title>
  <dc:creator>Rauf</dc:creator>
  <cp:lastModifiedBy>Rauf</cp:lastModifiedBy>
  <cp:revision>16</cp:revision>
  <dcterms:created xsi:type="dcterms:W3CDTF">2025-11-15T20:49:24Z</dcterms:created>
  <dcterms:modified xsi:type="dcterms:W3CDTF">2025-11-23T19:36:29Z</dcterms:modified>
</cp:coreProperties>
</file>