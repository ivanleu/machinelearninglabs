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58" r:id="rId7"/>
    <p:sldId id="268" r:id="rId8"/>
    <p:sldId id="270" r:id="rId9"/>
    <p:sldId id="271" r:id="rId10"/>
    <p:sldId id="259" r:id="rId11"/>
    <p:sldId id="260" r:id="rId12"/>
    <p:sldId id="264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uf" initials="R" lastIdx="1" clrIdx="0">
    <p:extLst>
      <p:ext uri="{19B8F6BF-5375-455C-9EA6-DF929625EA0E}">
        <p15:presenceInfo xmlns:p15="http://schemas.microsoft.com/office/powerpoint/2012/main" userId="37e7e5c5afbd670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165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29T14:43:29.765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4B1BD-981F-420A-8FE8-8BA8A69BC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4914" y="595665"/>
            <a:ext cx="5518066" cy="2268559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Bahnschrift Light" panose="020B0502040204020203" pitchFamily="34" charset="0"/>
              </a:rPr>
              <a:t>ML. </a:t>
            </a:r>
            <a:r>
              <a:rPr lang="ru-RU" dirty="0">
                <a:latin typeface="Bahnschrift Light" panose="020B0502040204020203" pitchFamily="34" charset="0"/>
              </a:rPr>
              <a:t>Лабораторная работа №4.</a:t>
            </a:r>
            <a:br>
              <a:rPr lang="en-US" dirty="0">
                <a:latin typeface="Bahnschrift Light" panose="020B0502040204020203" pitchFamily="34" charset="0"/>
              </a:rPr>
            </a:br>
            <a:br>
              <a:rPr lang="en-US" dirty="0">
                <a:latin typeface="Bahnschrift Light" panose="020B0502040204020203" pitchFamily="34" charset="0"/>
              </a:rPr>
            </a:br>
            <a:r>
              <a:rPr lang="en-US" sz="3600" dirty="0">
                <a:latin typeface="Bahnschrift Light" panose="020B0502040204020203" pitchFamily="34" charset="0"/>
              </a:rPr>
              <a:t>Bayesian networks </a:t>
            </a:r>
            <a:r>
              <a:rPr lang="ru-RU" sz="3600" dirty="0">
                <a:latin typeface="Bahnschrift Light" panose="020B0502040204020203" pitchFamily="34" charset="0"/>
              </a:rPr>
              <a:t>на примере </a:t>
            </a:r>
            <a:r>
              <a:rPr lang="ru-RU" sz="3600" dirty="0" err="1">
                <a:latin typeface="Bahnschrift Light" panose="020B0502040204020203" pitchFamily="34" charset="0"/>
              </a:rPr>
              <a:t>датасета</a:t>
            </a:r>
            <a:r>
              <a:rPr lang="ru-RU" sz="3600" dirty="0">
                <a:latin typeface="Bahnschrift Light" panose="020B0502040204020203" pitchFamily="34" charset="0"/>
              </a:rPr>
              <a:t> </a:t>
            </a:r>
            <a:r>
              <a:rPr lang="en-US" sz="3600" dirty="0">
                <a:latin typeface="Bahnschrift Light" panose="020B0502040204020203" pitchFamily="34" charset="0"/>
              </a:rPr>
              <a:t>Zoo</a:t>
            </a:r>
            <a:r>
              <a:rPr lang="ru-RU" sz="3600" dirty="0">
                <a:latin typeface="Bahnschrift Light" panose="020B0502040204020203" pitchFamily="34" charset="0"/>
              </a:rPr>
              <a:t>.</a:t>
            </a:r>
            <a:br>
              <a:rPr lang="ru-RU" dirty="0">
                <a:latin typeface="Bahnschrift Light" panose="020B0502040204020203" pitchFamily="34" charset="0"/>
              </a:rPr>
            </a:b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3E20DAC-4DB4-4996-AE4D-A063A252D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93615" y="5307821"/>
            <a:ext cx="5357600" cy="1160213"/>
          </a:xfrm>
        </p:spPr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Студент: </a:t>
            </a:r>
            <a:r>
              <a:rPr lang="ru-RU" dirty="0" err="1">
                <a:latin typeface="Bahnschrift Light" panose="020B0502040204020203" pitchFamily="34" charset="0"/>
              </a:rPr>
              <a:t>Велиев</a:t>
            </a:r>
            <a:r>
              <a:rPr lang="ru-RU" dirty="0">
                <a:latin typeface="Bahnschrift Light" panose="020B0502040204020203" pitchFamily="34" charset="0"/>
              </a:rPr>
              <a:t> Рауф </a:t>
            </a:r>
            <a:r>
              <a:rPr lang="ru-RU" dirty="0" err="1">
                <a:latin typeface="Bahnschrift Light" panose="020B0502040204020203" pitchFamily="34" charset="0"/>
              </a:rPr>
              <a:t>Рамиз</a:t>
            </a:r>
            <a:r>
              <a:rPr lang="ru-RU" dirty="0">
                <a:latin typeface="Bahnschrift Light" panose="020B0502040204020203" pitchFamily="34" charset="0"/>
              </a:rPr>
              <a:t> </a:t>
            </a:r>
            <a:r>
              <a:rPr lang="ru-RU" dirty="0" err="1">
                <a:latin typeface="Bahnschrift Light" panose="020B0502040204020203" pitchFamily="34" charset="0"/>
              </a:rPr>
              <a:t>оглы</a:t>
            </a:r>
            <a:endParaRPr lang="ru-RU" dirty="0">
              <a:latin typeface="Bahnschrift Light" panose="020B0502040204020203" pitchFamily="34" charset="0"/>
            </a:endParaRPr>
          </a:p>
          <a:p>
            <a:r>
              <a:rPr lang="ru-RU" dirty="0">
                <a:latin typeface="Bahnschrift Light" panose="020B0502040204020203" pitchFamily="34" charset="0"/>
              </a:rPr>
              <a:t>Группа: М8О-309Б-23</a:t>
            </a:r>
          </a:p>
        </p:txBody>
      </p:sp>
      <p:pic>
        <p:nvPicPr>
          <p:cNvPr id="2052" name="Picture 4" descr="Символика МАИ">
            <a:extLst>
              <a:ext uri="{FF2B5EF4-FFF2-40B4-BE49-F238E27FC236}">
                <a16:creationId xmlns:a16="http://schemas.microsoft.com/office/drawing/2014/main" id="{5B0ADEE2-72F5-4148-89B7-859BE58EE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9400" y="1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42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74E82-0C90-4B09-85E4-6D63C3976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Введение. </a:t>
            </a:r>
            <a:r>
              <a:rPr lang="en-US" dirty="0">
                <a:latin typeface="Bahnschrift Light" panose="020B0502040204020203" pitchFamily="34" charset="0"/>
              </a:rPr>
              <a:t>Bayesian Network.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6AE976-CC1B-4E45-85EF-097E6ED3D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558" y="1495973"/>
            <a:ext cx="9760884" cy="38660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err="1">
                <a:latin typeface="Bahnschrift Light" panose="020B0502040204020203" pitchFamily="34" charset="0"/>
              </a:rPr>
              <a:t>Bayesian</a:t>
            </a:r>
            <a:r>
              <a:rPr lang="ru-RU" sz="2400" dirty="0">
                <a:latin typeface="Bahnschrift Light" panose="020B0502040204020203" pitchFamily="34" charset="0"/>
              </a:rPr>
              <a:t> Network — это:</a:t>
            </a:r>
          </a:p>
          <a:p>
            <a:r>
              <a:rPr lang="ru-RU" dirty="0">
                <a:latin typeface="Bahnschrift Light" panose="020B0502040204020203" pitchFamily="34" charset="0"/>
              </a:rPr>
              <a:t>вероятностная </a:t>
            </a:r>
            <a:r>
              <a:rPr lang="ru-RU" dirty="0" err="1">
                <a:latin typeface="Bahnschrift Light" panose="020B0502040204020203" pitchFamily="34" charset="0"/>
              </a:rPr>
              <a:t>графовая</a:t>
            </a:r>
            <a:r>
              <a:rPr lang="ru-RU" dirty="0">
                <a:latin typeface="Bahnschrift Light" panose="020B0502040204020203" pitchFamily="34" charset="0"/>
              </a:rPr>
              <a:t> модель;</a:t>
            </a:r>
          </a:p>
          <a:p>
            <a:r>
              <a:rPr lang="ru-RU" dirty="0">
                <a:latin typeface="Bahnschrift Light" panose="020B0502040204020203" pitchFamily="34" charset="0"/>
              </a:rPr>
              <a:t>узлы = переменные;</a:t>
            </a:r>
          </a:p>
          <a:p>
            <a:r>
              <a:rPr lang="ru-RU" dirty="0">
                <a:latin typeface="Bahnschrift Light" panose="020B0502040204020203" pitchFamily="34" charset="0"/>
              </a:rPr>
              <a:t>стрелки = причинно-следственные зависимости;</a:t>
            </a:r>
          </a:p>
          <a:p>
            <a:r>
              <a:rPr lang="ru-RU" dirty="0">
                <a:latin typeface="Bahnschrift Light" panose="020B0502040204020203" pitchFamily="34" charset="0"/>
              </a:rPr>
              <a:t>количественные зависимости задаются таблицами условных вероятностей (CPT).</a:t>
            </a:r>
          </a:p>
          <a:p>
            <a:pPr marL="0" indent="0">
              <a:buNone/>
            </a:pPr>
            <a:r>
              <a:rPr lang="ru-RU" sz="2200" dirty="0">
                <a:latin typeface="Bahnschrift Light" panose="020B0502040204020203" pitchFamily="34" charset="0"/>
              </a:rPr>
              <a:t>Используются для: классификации, прогнозирования, моделирования неопределённости, объяснения зависимостей между признаками.</a:t>
            </a:r>
          </a:p>
        </p:txBody>
      </p:sp>
      <p:pic>
        <p:nvPicPr>
          <p:cNvPr id="1028" name="Picture 4" descr="Как применять теорему Байеса для решения реальных задач">
            <a:extLst>
              <a:ext uri="{FF2B5EF4-FFF2-40B4-BE49-F238E27FC236}">
                <a16:creationId xmlns:a16="http://schemas.microsoft.com/office/drawing/2014/main" id="{AEB88DAB-1D51-444B-A67F-0D857E846A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10" b="16809"/>
          <a:stretch/>
        </p:blipFill>
        <p:spPr bwMode="auto">
          <a:xfrm>
            <a:off x="6590973" y="5695947"/>
            <a:ext cx="3667125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756C68-5E4D-4CD9-9489-E0982A2781C4}"/>
              </a:ext>
            </a:extLst>
          </p:cNvPr>
          <p:cNvSpPr txBox="1"/>
          <p:nvPr/>
        </p:nvSpPr>
        <p:spPr>
          <a:xfrm>
            <a:off x="2114550" y="592231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Bahnschrift Light" panose="020B0502040204020203" pitchFamily="34" charset="0"/>
              </a:rPr>
              <a:t>Формула Байеса (основа </a:t>
            </a:r>
            <a:r>
              <a:rPr lang="en-US" sz="2400" dirty="0">
                <a:latin typeface="Bahnschrift Light" panose="020B0502040204020203" pitchFamily="34" charset="0"/>
              </a:rPr>
              <a:t>BN):</a:t>
            </a:r>
            <a:endParaRPr lang="ru-RU" sz="24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80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74E82-0C90-4B09-85E4-6D63C3976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Введение. </a:t>
            </a:r>
            <a:r>
              <a:rPr lang="ru-RU" dirty="0" err="1">
                <a:latin typeface="Bahnschrift Light" panose="020B0502040204020203" pitchFamily="34" charset="0"/>
              </a:rPr>
              <a:t>Датасет</a:t>
            </a:r>
            <a:r>
              <a:rPr lang="en-US" dirty="0">
                <a:latin typeface="Bahnschrift Light" panose="020B0502040204020203" pitchFamily="34" charset="0"/>
              </a:rPr>
              <a:t>.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6AE976-CC1B-4E45-85EF-097E6ED3D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558" y="2287094"/>
            <a:ext cx="9760884" cy="38660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Bahnschrift Light" panose="020B0502040204020203" pitchFamily="34" charset="0"/>
              </a:rPr>
              <a:t>Zoo Dataset</a:t>
            </a:r>
            <a:r>
              <a:rPr lang="ru-RU" sz="2400" b="1" dirty="0">
                <a:latin typeface="Bahnschrift Light" panose="020B0502040204020203" pitchFamily="34" charset="0"/>
              </a:rPr>
              <a:t>:</a:t>
            </a:r>
          </a:p>
          <a:p>
            <a:pPr marL="0" indent="0">
              <a:buNone/>
            </a:pPr>
            <a:r>
              <a:rPr lang="ru-RU" sz="2400" u="sng" dirty="0">
                <a:latin typeface="Bahnschrift Light" panose="020B0502040204020203" pitchFamily="34" charset="0"/>
              </a:rPr>
              <a:t>Размер</a:t>
            </a:r>
            <a:r>
              <a:rPr lang="ru-RU" sz="2400" dirty="0">
                <a:latin typeface="Bahnschrift Light" panose="020B0502040204020203" pitchFamily="34" charset="0"/>
              </a:rPr>
              <a:t>: 101 объект. </a:t>
            </a:r>
            <a:r>
              <a:rPr lang="ru-RU" sz="2400" u="sng" dirty="0">
                <a:latin typeface="Bahnschrift Light" panose="020B0502040204020203" pitchFamily="34" charset="0"/>
              </a:rPr>
              <a:t>Признаков</a:t>
            </a:r>
            <a:r>
              <a:rPr lang="ru-RU" sz="2400" dirty="0">
                <a:latin typeface="Bahnschrift Light" panose="020B0502040204020203" pitchFamily="34" charset="0"/>
              </a:rPr>
              <a:t>: 16 бинарных + </a:t>
            </a:r>
            <a:r>
              <a:rPr lang="ru-RU" sz="2400" dirty="0" err="1">
                <a:latin typeface="Bahnschrift Light" panose="020B0502040204020203" pitchFamily="34" charset="0"/>
              </a:rPr>
              <a:t>legs</a:t>
            </a:r>
            <a:r>
              <a:rPr lang="ru-RU" sz="2400" dirty="0">
                <a:latin typeface="Bahnschrift Light" panose="020B0502040204020203" pitchFamily="34" charset="0"/>
              </a:rPr>
              <a:t> (целое). </a:t>
            </a:r>
            <a:r>
              <a:rPr lang="ru-RU" sz="2400" u="sng" dirty="0">
                <a:latin typeface="Bahnschrift Light" panose="020B0502040204020203" pitchFamily="34" charset="0"/>
              </a:rPr>
              <a:t>Целевая переменная</a:t>
            </a:r>
            <a:r>
              <a:rPr lang="ru-RU" sz="2400" dirty="0">
                <a:latin typeface="Bahnschrift Light" panose="020B0502040204020203" pitchFamily="34" charset="0"/>
              </a:rPr>
              <a:t>: </a:t>
            </a:r>
            <a:r>
              <a:rPr lang="ru-RU" sz="2400" dirty="0" err="1">
                <a:latin typeface="Bahnschrift Light" panose="020B0502040204020203" pitchFamily="34" charset="0"/>
              </a:rPr>
              <a:t>class_type</a:t>
            </a:r>
            <a:r>
              <a:rPr lang="ru-RU" sz="2400" dirty="0">
                <a:latin typeface="Bahnschrift Light" panose="020B0502040204020203" pitchFamily="34" charset="0"/>
              </a:rPr>
              <a:t> (1–7). </a:t>
            </a:r>
            <a:r>
              <a:rPr lang="ru-RU" sz="2400" u="sng" dirty="0">
                <a:latin typeface="Bahnschrift Light" panose="020B0502040204020203" pitchFamily="34" charset="0"/>
              </a:rPr>
              <a:t>Тематика</a:t>
            </a:r>
            <a:r>
              <a:rPr lang="ru-RU" sz="2400" dirty="0">
                <a:latin typeface="Bahnschrift Light" panose="020B0502040204020203" pitchFamily="34" charset="0"/>
              </a:rPr>
              <a:t>: классификация животных по их биологическим свойствам. </a:t>
            </a:r>
            <a:r>
              <a:rPr lang="ru-RU" sz="2400" u="sng" dirty="0">
                <a:latin typeface="Bahnschrift Light" panose="020B0502040204020203" pitchFamily="34" charset="0"/>
              </a:rPr>
              <a:t>Источник</a:t>
            </a:r>
            <a:r>
              <a:rPr lang="ru-RU" sz="2400" dirty="0">
                <a:latin typeface="Bahnschrift Light" panose="020B0502040204020203" pitchFamily="34" charset="0"/>
              </a:rPr>
              <a:t>: </a:t>
            </a:r>
            <a:r>
              <a:rPr lang="ru-RU" sz="2400" dirty="0" err="1">
                <a:latin typeface="Bahnschrift Light" panose="020B0502040204020203" pitchFamily="34" charset="0"/>
              </a:rPr>
              <a:t>Kaggle</a:t>
            </a:r>
            <a:r>
              <a:rPr lang="ru-RU" sz="2400" dirty="0">
                <a:latin typeface="Bahnschrift Light" panose="020B0502040204020203" pitchFamily="34" charset="0"/>
              </a:rPr>
              <a:t>.</a:t>
            </a:r>
          </a:p>
          <a:p>
            <a:pPr marL="0" indent="0">
              <a:buNone/>
            </a:pPr>
            <a:r>
              <a:rPr lang="ru-RU" sz="2400" b="1" dirty="0">
                <a:latin typeface="Bahnschrift Light" panose="020B0502040204020203" pitchFamily="34" charset="0"/>
              </a:rPr>
              <a:t>Примеры признаков:</a:t>
            </a:r>
          </a:p>
          <a:p>
            <a:pPr marL="0" indent="0">
              <a:buNone/>
            </a:pPr>
            <a:r>
              <a:rPr lang="ru-RU" sz="2400" dirty="0">
                <a:latin typeface="Bahnschrift Light" panose="020B0502040204020203" pitchFamily="34" charset="0"/>
              </a:rPr>
              <a:t>1. </a:t>
            </a:r>
            <a:r>
              <a:rPr lang="en-US" sz="2400" dirty="0">
                <a:latin typeface="Bahnschrift Light" panose="020B0502040204020203" pitchFamily="34" charset="0"/>
              </a:rPr>
              <a:t>hair, feathers, milk, eggs</a:t>
            </a:r>
            <a:endParaRPr lang="ru-RU" sz="2400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sz="2400" dirty="0">
                <a:latin typeface="Bahnschrift Light" panose="020B0502040204020203" pitchFamily="34" charset="0"/>
              </a:rPr>
              <a:t>2. </a:t>
            </a:r>
            <a:r>
              <a:rPr lang="en-US" sz="2400" dirty="0">
                <a:latin typeface="Bahnschrift Light" panose="020B0502040204020203" pitchFamily="34" charset="0"/>
              </a:rPr>
              <a:t>backbone, aquatic, airborne</a:t>
            </a:r>
            <a:endParaRPr lang="ru-RU" sz="2400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sz="2400" dirty="0">
                <a:latin typeface="Bahnschrift Light" panose="020B0502040204020203" pitchFamily="34" charset="0"/>
              </a:rPr>
              <a:t>3. </a:t>
            </a:r>
            <a:r>
              <a:rPr lang="en-US" sz="2400" dirty="0">
                <a:latin typeface="Bahnschrift Light" panose="020B0502040204020203" pitchFamily="34" charset="0"/>
              </a:rPr>
              <a:t>domestic, predator, tail</a:t>
            </a:r>
            <a:endParaRPr lang="ru-RU" sz="2400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sz="2400" dirty="0">
                <a:latin typeface="Bahnschrift Light" panose="020B0502040204020203" pitchFamily="34" charset="0"/>
              </a:rPr>
              <a:t>4. </a:t>
            </a:r>
            <a:r>
              <a:rPr lang="en-US" sz="2400" dirty="0">
                <a:latin typeface="Bahnschrift Light" panose="020B0502040204020203" pitchFamily="34" charset="0"/>
              </a:rPr>
              <a:t>legs (</a:t>
            </a:r>
            <a:r>
              <a:rPr lang="ru-RU" sz="2400" dirty="0">
                <a:latin typeface="Bahnschrift Light" panose="020B0502040204020203" pitchFamily="34" charset="0"/>
              </a:rPr>
              <a:t>число ног)</a:t>
            </a:r>
          </a:p>
          <a:p>
            <a:pPr marL="0" indent="0">
              <a:buNone/>
            </a:pPr>
            <a:endParaRPr lang="ru-RU" sz="2400" dirty="0">
              <a:latin typeface="Bahnschrift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756C68-5E4D-4CD9-9489-E0982A2781C4}"/>
              </a:ext>
            </a:extLst>
          </p:cNvPr>
          <p:cNvSpPr txBox="1"/>
          <p:nvPr/>
        </p:nvSpPr>
        <p:spPr>
          <a:xfrm>
            <a:off x="2114550" y="592231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24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485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74E82-0C90-4B09-85E4-6D63C3976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Загрузка и обработка </a:t>
            </a:r>
            <a:r>
              <a:rPr lang="ru-RU" dirty="0" err="1">
                <a:latin typeface="Bahnschrift Light" panose="020B0502040204020203" pitchFamily="34" charset="0"/>
              </a:rPr>
              <a:t>датасета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6AE976-CC1B-4E45-85EF-097E6ED3D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558" y="2065122"/>
            <a:ext cx="9760884" cy="386605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zoo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read_csv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'zoo.csv'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classes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read_csv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'class.csv'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endParaRPr lang="en-US" sz="1800" dirty="0"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"zoo shape:"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zoo</a:t>
            </a:r>
            <a:r>
              <a:rPr lang="en-US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zoo</a:t>
            </a:r>
            <a:r>
              <a:rPr lang="en-US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  <a:b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sz="18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classes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classes</a:t>
            </a:r>
            <a:r>
              <a:rPr lang="en-US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ru-RU" sz="2400" dirty="0">
                <a:latin typeface="Bahnschrift Light" panose="020B0502040204020203" pitchFamily="34" charset="0"/>
              </a:rPr>
              <a:t>Размер:</a:t>
            </a:r>
          </a:p>
          <a:p>
            <a:pPr marL="0" indent="0">
              <a:buNone/>
            </a:pPr>
            <a:r>
              <a:rPr lang="ru-RU" sz="2400" dirty="0">
                <a:latin typeface="Bahnschrift Light" panose="020B0502040204020203" pitchFamily="34" charset="0"/>
              </a:rPr>
              <a:t>101 строк</a:t>
            </a:r>
          </a:p>
          <a:p>
            <a:pPr marL="0" indent="0">
              <a:buNone/>
            </a:pPr>
            <a:r>
              <a:rPr lang="ru-RU" sz="2400" dirty="0">
                <a:latin typeface="Bahnschrift Light" panose="020B0502040204020203" pitchFamily="34" charset="0"/>
              </a:rPr>
              <a:t>18 столбцов (включая </a:t>
            </a:r>
            <a:r>
              <a:rPr lang="ru-RU" sz="2400" dirty="0" err="1">
                <a:latin typeface="Bahnschrift Light" panose="020B0502040204020203" pitchFamily="34" charset="0"/>
              </a:rPr>
              <a:t>animal_name</a:t>
            </a:r>
            <a:r>
              <a:rPr lang="ru-RU" sz="2400" dirty="0">
                <a:latin typeface="Bahnschrift Light" panose="020B0502040204020203" pitchFamily="34" charset="0"/>
              </a:rPr>
              <a:t>)</a:t>
            </a:r>
          </a:p>
          <a:p>
            <a:pPr marL="0" indent="0">
              <a:buNone/>
            </a:pPr>
            <a:r>
              <a:rPr lang="ru-RU" sz="2400" dirty="0">
                <a:latin typeface="Bahnschrift Light" panose="020B0502040204020203" pitchFamily="34" charset="0"/>
              </a:rPr>
              <a:t>Просмотр данных: отображены первые 5 строк</a:t>
            </a:r>
            <a:r>
              <a:rPr lang="en-US" sz="2400" dirty="0">
                <a:latin typeface="Bahnschrift Light" panose="020B0502040204020203" pitchFamily="34" charset="0"/>
              </a:rPr>
              <a:t>; </a:t>
            </a:r>
            <a:r>
              <a:rPr lang="ru-RU" sz="2400" dirty="0">
                <a:latin typeface="Bahnschrift Light" panose="020B0502040204020203" pitchFamily="34" charset="0"/>
              </a:rPr>
              <a:t>проверка распределения классов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756C68-5E4D-4CD9-9489-E0982A2781C4}"/>
              </a:ext>
            </a:extLst>
          </p:cNvPr>
          <p:cNvSpPr txBox="1"/>
          <p:nvPr/>
        </p:nvSpPr>
        <p:spPr>
          <a:xfrm>
            <a:off x="2114550" y="592231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24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74E82-0C90-4B09-85E4-6D63C3976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Загрузка и обработка </a:t>
            </a:r>
            <a:r>
              <a:rPr lang="ru-RU" dirty="0" err="1">
                <a:latin typeface="Bahnschrift Light" panose="020B0502040204020203" pitchFamily="34" charset="0"/>
              </a:rPr>
              <a:t>датасета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6AE976-CC1B-4E45-85EF-097E6ED3D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558" y="2065787"/>
            <a:ext cx="9760884" cy="38660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Bahnschrift Light" panose="020B0502040204020203" pitchFamily="34" charset="0"/>
              </a:rPr>
              <a:t>Что было сделано:</a:t>
            </a:r>
          </a:p>
          <a:p>
            <a:pPr marL="457200" indent="-457200">
              <a:buAutoNum type="arabicPeriod"/>
            </a:pPr>
            <a:r>
              <a:rPr lang="ru-RU" sz="2400" dirty="0">
                <a:latin typeface="Bahnschrift Light" panose="020B0502040204020203" pitchFamily="34" charset="0"/>
              </a:rPr>
              <a:t>удалён </a:t>
            </a:r>
            <a:r>
              <a:rPr lang="ru-RU" sz="2400" dirty="0" err="1">
                <a:latin typeface="Bahnschrift Light" panose="020B0502040204020203" pitchFamily="34" charset="0"/>
              </a:rPr>
              <a:t>animal_name</a:t>
            </a:r>
            <a:r>
              <a:rPr lang="ru-RU" sz="2400" dirty="0">
                <a:latin typeface="Bahnschrift Light" panose="020B0502040204020203" pitchFamily="34" charset="0"/>
              </a:rPr>
              <a:t> (не признак, а текстовое имя)</a:t>
            </a:r>
          </a:p>
          <a:p>
            <a:pPr marL="457200" indent="-457200">
              <a:buAutoNum type="arabicPeriod"/>
            </a:pPr>
            <a:r>
              <a:rPr lang="ru-RU" sz="2400" dirty="0">
                <a:latin typeface="Bahnschrift Light" panose="020B0502040204020203" pitchFamily="34" charset="0"/>
              </a:rPr>
              <a:t>оставлены 16 признаков и целевой столбец </a:t>
            </a:r>
            <a:r>
              <a:rPr lang="ru-RU" sz="2400" dirty="0" err="1">
                <a:latin typeface="Bahnschrift Light" panose="020B0502040204020203" pitchFamily="34" charset="0"/>
              </a:rPr>
              <a:t>class_type</a:t>
            </a:r>
            <a:endParaRPr lang="ru-RU" sz="2400" dirty="0">
              <a:latin typeface="Bahnschrift Light" panose="020B0502040204020203" pitchFamily="34" charset="0"/>
            </a:endParaRPr>
          </a:p>
          <a:p>
            <a:pPr marL="457200" indent="-457200">
              <a:buAutoNum type="arabicPeriod"/>
            </a:pPr>
            <a:r>
              <a:rPr lang="ru-RU" sz="2400" dirty="0">
                <a:latin typeface="Bahnschrift Light" panose="020B0502040204020203" pitchFamily="34" charset="0"/>
              </a:rPr>
              <a:t>все данные — дискретные (требование </a:t>
            </a:r>
            <a:r>
              <a:rPr lang="ru-RU" sz="2400" dirty="0" err="1">
                <a:latin typeface="Bahnschrift Light" panose="020B0502040204020203" pitchFamily="34" charset="0"/>
              </a:rPr>
              <a:t>pgmpy</a:t>
            </a:r>
            <a:r>
              <a:rPr lang="ru-RU" sz="2400" dirty="0">
                <a:latin typeface="Bahnschrift Light" panose="020B0502040204020203" pitchFamily="34" charset="0"/>
              </a:rPr>
              <a:t>)</a:t>
            </a:r>
          </a:p>
          <a:p>
            <a:pPr marL="457200" indent="-457200">
              <a:buAutoNum type="arabicPeriod"/>
            </a:pPr>
            <a:r>
              <a:rPr lang="ru-RU" sz="2400" dirty="0">
                <a:latin typeface="Bahnschrift Light" panose="020B0502040204020203" pitchFamily="34" charset="0"/>
              </a:rPr>
              <a:t>тип данных приведён к </a:t>
            </a:r>
            <a:r>
              <a:rPr lang="ru-RU" sz="2400" dirty="0" err="1">
                <a:latin typeface="Bahnschrift Light" panose="020B0502040204020203" pitchFamily="34" charset="0"/>
              </a:rPr>
              <a:t>int</a:t>
            </a:r>
            <a:endParaRPr lang="ru-RU" sz="2400" dirty="0">
              <a:latin typeface="Bahnschrift Light" panose="020B0502040204020203" pitchFamily="34" charset="0"/>
            </a:endParaRPr>
          </a:p>
          <a:p>
            <a:pPr marL="457200" indent="-457200">
              <a:buAutoNum type="arabicPeriod"/>
            </a:pPr>
            <a:r>
              <a:rPr lang="ru-RU" sz="2400" dirty="0">
                <a:latin typeface="Bahnschrift Light" panose="020B0502040204020203" pitchFamily="34" charset="0"/>
              </a:rPr>
              <a:t>Пример </a:t>
            </a:r>
            <a:r>
              <a:rPr lang="ru-RU" sz="2400" dirty="0" err="1">
                <a:latin typeface="Bahnschrift Light" panose="020B0502040204020203" pitchFamily="34" charset="0"/>
              </a:rPr>
              <a:t>value_counts</a:t>
            </a:r>
            <a:r>
              <a:rPr lang="ru-RU" sz="2400" dirty="0">
                <a:latin typeface="Bahnschrift Light" panose="020B0502040204020203" pitchFamily="34" charset="0"/>
              </a:rPr>
              <a:t>:</a:t>
            </a:r>
          </a:p>
          <a:p>
            <a:pPr marL="0" indent="0">
              <a:buNone/>
            </a:pPr>
            <a:r>
              <a:rPr lang="ru-RU" sz="2400" dirty="0">
                <a:latin typeface="Bahnschrift Light" panose="020B0502040204020203" pitchFamily="34" charset="0"/>
              </a:rPr>
              <a:t>	класс 1 — 41 наблюдение, класс 2 — 20, класс 4 — 13…</a:t>
            </a:r>
          </a:p>
          <a:p>
            <a:pPr marL="0" indent="0">
              <a:buNone/>
            </a:pPr>
            <a:r>
              <a:rPr lang="ru-RU" sz="2400" u="sng" dirty="0">
                <a:latin typeface="Bahnschrift Light" panose="020B0502040204020203" pitchFamily="34" charset="0"/>
              </a:rPr>
              <a:t>Почему важно</a:t>
            </a:r>
            <a:r>
              <a:rPr lang="ru-RU" sz="2400" dirty="0">
                <a:latin typeface="Bahnschrift Light" panose="020B0502040204020203" pitchFamily="34" charset="0"/>
              </a:rPr>
              <a:t>: байесовские сети работают с дискретными признаками.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756C68-5E4D-4CD9-9489-E0982A2781C4}"/>
              </a:ext>
            </a:extLst>
          </p:cNvPr>
          <p:cNvSpPr txBox="1"/>
          <p:nvPr/>
        </p:nvSpPr>
        <p:spPr>
          <a:xfrm>
            <a:off x="2114550" y="593184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24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989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03DA40-8632-44D4-B553-2AB1E54C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Построение структуры </a:t>
            </a:r>
            <a:r>
              <a:rPr lang="en-US" dirty="0">
                <a:latin typeface="Bahnschrift Light" panose="020B0502040204020203" pitchFamily="34" charset="0"/>
              </a:rPr>
              <a:t>Bayesian Network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3D225E-0E67-48AC-816C-E7DC99C476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54081" y="1740208"/>
            <a:ext cx="9880644" cy="5071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Выбрана структура: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class_type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→ все признаки.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altLang="ru-RU" sz="2400" dirty="0">
                <a:latin typeface="Bahnschrift Light" panose="020B0502040204020203" pitchFamily="34" charset="0"/>
              </a:rPr>
              <a:t>Э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то аналог наивного Байеса, но в виде сети.</a:t>
            </a:r>
            <a:endParaRPr lang="ru-RU" altLang="ru-RU" sz="2400" dirty="0">
              <a:latin typeface="Bahnschrift Light" panose="020B05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pgmpy.models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DiscreteBayesianNetwork</a:t>
            </a:r>
            <a:b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[(</a:t>
            </a:r>
            <a:r>
              <a:rPr lang="en-US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target_col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feat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feat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  </a:t>
            </a:r>
            <a:r>
              <a:rPr lang="en-US" sz="1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class -&gt; each feature</a:t>
            </a:r>
            <a:endParaRPr lang="en-US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model_manual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DiscreteBayesianNetwork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ru-RU" sz="1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400" b="1" u="sng" dirty="0">
                <a:latin typeface="Bahnschrift Light" panose="020B0502040204020203" pitchFamily="34" charset="0"/>
              </a:rPr>
              <a:t>Смысл структуры:</a:t>
            </a:r>
            <a:endParaRPr lang="ru-RU" sz="2400" u="sng" dirty="0">
              <a:latin typeface="Bahnschrift Light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 Light" panose="020B0502040204020203" pitchFamily="34" charset="0"/>
              </a:rPr>
              <a:t>класс животного объясняет все его признаки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 Light" panose="020B0502040204020203" pitchFamily="34" charset="0"/>
              </a:rPr>
              <a:t>“из класса следуют свойства”, а не наоборот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 Light" panose="020B0502040204020203" pitchFamily="34" charset="0"/>
              </a:rPr>
              <a:t>удобная и интерпретируемая структура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702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03DA40-8632-44D4-B553-2AB1E54C5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082" y="808056"/>
            <a:ext cx="9316058" cy="1077229"/>
          </a:xfrm>
        </p:spPr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Обучение параметров (</a:t>
            </a:r>
            <a:r>
              <a:rPr lang="en-US" dirty="0">
                <a:latin typeface="Bahnschrift Light" panose="020B0502040204020203" pitchFamily="34" charset="0"/>
              </a:rPr>
              <a:t>Maximum Likelihood)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3D225E-0E67-48AC-816C-E7DC99C476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54081" y="1425765"/>
            <a:ext cx="9880644" cy="5700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Параметры сети — это таблицы условных вероятностей (CPT, 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Conditiona</a:t>
            </a:r>
            <a:r>
              <a:rPr lang="en-US" altLang="ru-RU" sz="2400" dirty="0">
                <a:latin typeface="Bahnschrift Light" panose="020B0502040204020203" pitchFamily="34" charset="0"/>
              </a:rPr>
              <a:t>l Probability Table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).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Обучение:</a:t>
            </a:r>
            <a:endParaRPr kumimoji="0" lang="en-US" altLang="ru-RU" sz="24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pgmpy.estimators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MaximumLikelihoodEstimator</a:t>
            </a:r>
            <a:endParaRPr lang="en-US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model_manual</a:t>
            </a:r>
            <a:r>
              <a:rPr lang="en-US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.fit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zoo_disc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estimator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MaximumLikelihoodEstimator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400" u="sng" dirty="0">
                <a:latin typeface="Bahnschrift Light" panose="020B0502040204020203" pitchFamily="34" charset="0"/>
              </a:rPr>
              <a:t>В результате были получены: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Bahnschrift Light" panose="020B0502040204020203" pitchFamily="34" charset="0"/>
              </a:rPr>
              <a:t>распределение P(</a:t>
            </a:r>
            <a:r>
              <a:rPr lang="ru-RU" dirty="0" err="1">
                <a:latin typeface="Bahnschrift Light" panose="020B0502040204020203" pitchFamily="34" charset="0"/>
              </a:rPr>
              <a:t>class_type</a:t>
            </a:r>
            <a:r>
              <a:rPr lang="ru-RU" dirty="0">
                <a:latin typeface="Bahnschrift Light" panose="020B0502040204020203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Bahnschrift Light" panose="020B0502040204020203" pitchFamily="34" charset="0"/>
              </a:rPr>
              <a:t>P(</a:t>
            </a:r>
            <a:r>
              <a:rPr lang="ru-RU" dirty="0" err="1">
                <a:latin typeface="Bahnschrift Light" panose="020B0502040204020203" pitchFamily="34" charset="0"/>
              </a:rPr>
              <a:t>hair</a:t>
            </a:r>
            <a:r>
              <a:rPr lang="ru-RU" dirty="0">
                <a:latin typeface="Bahnschrift Light" panose="020B0502040204020203" pitchFamily="34" charset="0"/>
              </a:rPr>
              <a:t> | </a:t>
            </a:r>
            <a:r>
              <a:rPr lang="ru-RU" dirty="0" err="1">
                <a:latin typeface="Bahnschrift Light" panose="020B0502040204020203" pitchFamily="34" charset="0"/>
              </a:rPr>
              <a:t>class_type</a:t>
            </a:r>
            <a:r>
              <a:rPr lang="ru-RU" dirty="0">
                <a:latin typeface="Bahnschrift Light" panose="020B0502040204020203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Bahnschrift Light" panose="020B0502040204020203" pitchFamily="34" charset="0"/>
              </a:rPr>
              <a:t>P(</a:t>
            </a:r>
            <a:r>
              <a:rPr lang="ru-RU" dirty="0" err="1">
                <a:latin typeface="Bahnschrift Light" panose="020B0502040204020203" pitchFamily="34" charset="0"/>
              </a:rPr>
              <a:t>milk</a:t>
            </a:r>
            <a:r>
              <a:rPr lang="ru-RU" dirty="0">
                <a:latin typeface="Bahnschrift Light" panose="020B0502040204020203" pitchFamily="34" charset="0"/>
              </a:rPr>
              <a:t> | </a:t>
            </a:r>
            <a:r>
              <a:rPr lang="ru-RU" dirty="0" err="1">
                <a:latin typeface="Bahnschrift Light" panose="020B0502040204020203" pitchFamily="34" charset="0"/>
              </a:rPr>
              <a:t>class_type</a:t>
            </a:r>
            <a:r>
              <a:rPr lang="ru-RU" dirty="0">
                <a:latin typeface="Bahnschrift Light" panose="020B0502040204020203" pitchFamily="34" charset="0"/>
              </a:rPr>
              <a:t>), и т. д.</a:t>
            </a:r>
          </a:p>
          <a:p>
            <a:pPr marL="0" indent="0">
              <a:buNone/>
            </a:pPr>
            <a:r>
              <a:rPr lang="ru-RU" sz="2400" b="1" dirty="0">
                <a:latin typeface="Bahnschrift Light" panose="020B0502040204020203" pitchFamily="34" charset="0"/>
              </a:rPr>
              <a:t>Почему важно:</a:t>
            </a:r>
            <a:r>
              <a:rPr lang="en-US" sz="2400" b="1" dirty="0">
                <a:latin typeface="Bahnschrift Light" panose="020B0502040204020203" pitchFamily="34" charset="0"/>
              </a:rPr>
              <a:t> </a:t>
            </a:r>
            <a:r>
              <a:rPr lang="ru-RU" sz="2400" dirty="0">
                <a:latin typeface="Bahnschrift Light" panose="020B0502040204020203" pitchFamily="34" charset="0"/>
              </a:rPr>
              <a:t>после обучения сеть начинает отражать реальную статистику </a:t>
            </a:r>
            <a:r>
              <a:rPr lang="ru-RU" sz="2400" dirty="0" err="1">
                <a:latin typeface="Bahnschrift Light" panose="020B0502040204020203" pitchFamily="34" charset="0"/>
              </a:rPr>
              <a:t>Zoo</a:t>
            </a:r>
            <a:r>
              <a:rPr lang="ru-RU" sz="2400" dirty="0">
                <a:latin typeface="Bahnschrift Light" panose="020B0502040204020203" pitchFamily="34" charset="0"/>
              </a:rPr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23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03DA40-8632-44D4-B553-2AB1E54C5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082" y="808056"/>
            <a:ext cx="9316058" cy="1077229"/>
          </a:xfrm>
        </p:spPr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Пример CPT для целевой переменной</a:t>
            </a:r>
            <a:endParaRPr lang="en-US" dirty="0">
              <a:latin typeface="Bahnschrift Light" panose="020B05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3D225E-0E67-48AC-816C-E7DC99C476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7274" y="1668379"/>
            <a:ext cx="6238876" cy="4558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cpt_class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model_manual</a:t>
            </a:r>
            <a:r>
              <a:rPr lang="en-US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.get_cpds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target_col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"CPT for target/class:"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cpt_class</a:t>
            </a:r>
            <a:r>
              <a:rPr lang="en-US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ru-RU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00" b="0" dirty="0">
              <a:solidFill>
                <a:srgbClr val="CCCCCC"/>
              </a:solidFill>
              <a:effectLst/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sz="2400" dirty="0">
                <a:latin typeface="Bahnschrift Light" panose="020B0502040204020203" pitchFamily="34" charset="0"/>
              </a:rPr>
              <a:t>Интерпретация: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 Light" panose="020B0502040204020203" pitchFamily="34" charset="0"/>
              </a:rPr>
              <a:t>наиболее распространённый класс: </a:t>
            </a:r>
            <a:r>
              <a:rPr lang="ru-RU" sz="2400" b="1" dirty="0">
                <a:latin typeface="Bahnschrift Light" panose="020B0502040204020203" pitchFamily="34" charset="0"/>
              </a:rPr>
              <a:t>млекопитающие (1)</a:t>
            </a:r>
            <a:endParaRPr lang="ru-RU" sz="2400" dirty="0">
              <a:latin typeface="Bahnschrift Light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 Light" panose="020B0502040204020203" pitchFamily="34" charset="0"/>
              </a:rPr>
              <a:t>редкие: 3 (</a:t>
            </a:r>
            <a:r>
              <a:rPr lang="ru-RU" sz="2400" dirty="0" err="1">
                <a:latin typeface="Bahnschrift Light" panose="020B0502040204020203" pitchFamily="34" charset="0"/>
              </a:rPr>
              <a:t>Reptile</a:t>
            </a:r>
            <a:r>
              <a:rPr lang="ru-RU" sz="2400" dirty="0">
                <a:latin typeface="Bahnschrift Light" panose="020B0502040204020203" pitchFamily="34" charset="0"/>
              </a:rPr>
              <a:t>), 5 (</a:t>
            </a:r>
            <a:r>
              <a:rPr lang="ru-RU" sz="2400" dirty="0" err="1">
                <a:latin typeface="Bahnschrift Light" panose="020B0502040204020203" pitchFamily="34" charset="0"/>
              </a:rPr>
              <a:t>Amphibian</a:t>
            </a:r>
            <a:r>
              <a:rPr lang="ru-RU" sz="2400" dirty="0">
                <a:latin typeface="Bahnschrift Light" panose="020B0502040204020203" pitchFamily="34" charset="0"/>
              </a:rPr>
              <a:t>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DF7229-E098-47E7-99FD-7221F9DBD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808" y="1806773"/>
            <a:ext cx="3477110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822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023155-457B-4C8D-8943-D84CC277F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Пример </a:t>
            </a:r>
            <a:r>
              <a:rPr lang="en-US" dirty="0">
                <a:latin typeface="Bahnschrift Light" panose="020B0502040204020203" pitchFamily="34" charset="0"/>
              </a:rPr>
              <a:t>CPT </a:t>
            </a:r>
            <a:r>
              <a:rPr lang="ru-RU" dirty="0">
                <a:latin typeface="Bahnschrift Light" panose="020B0502040204020203" pitchFamily="34" charset="0"/>
              </a:rPr>
              <a:t>для признаков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9128A3-908D-4FF5-ADD8-B4665C2ED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3399" y="2192880"/>
            <a:ext cx="4455876" cy="39978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>
                <a:latin typeface="Bahnschrift Light" panose="020B0502040204020203" pitchFamily="34" charset="0"/>
              </a:rPr>
              <a:t>Посмотрим CPT для пары признаков (например </a:t>
            </a:r>
            <a:r>
              <a:rPr lang="ru-RU" dirty="0" err="1">
                <a:latin typeface="Bahnschrift Light" panose="020B0502040204020203" pitchFamily="34" charset="0"/>
              </a:rPr>
              <a:t>milk</a:t>
            </a:r>
            <a:r>
              <a:rPr lang="ru-RU" dirty="0">
                <a:latin typeface="Bahnschrift Light" panose="020B0502040204020203" pitchFamily="34" charset="0"/>
              </a:rPr>
              <a:t>, </a:t>
            </a:r>
            <a:r>
              <a:rPr lang="ru-RU" dirty="0" err="1">
                <a:latin typeface="Bahnschrift Light" panose="020B0502040204020203" pitchFamily="34" charset="0"/>
              </a:rPr>
              <a:t>hair</a:t>
            </a:r>
            <a:r>
              <a:rPr lang="ru-RU" dirty="0">
                <a:latin typeface="Bahnschrift Light" panose="020B0502040204020203" pitchFamily="34" charset="0"/>
              </a:rPr>
              <a:t>):</a:t>
            </a:r>
          </a:p>
          <a:p>
            <a:pPr marL="0" indent="0">
              <a:buNone/>
            </a:pPr>
            <a:r>
              <a:rPr lang="ru-RU" u="sng" dirty="0">
                <a:latin typeface="Bahnschrift Light" panose="020B0502040204020203" pitchFamily="34" charset="0"/>
              </a:rPr>
              <a:t>Интерпретация</a:t>
            </a:r>
            <a:r>
              <a:rPr lang="ru-RU" dirty="0">
                <a:latin typeface="Bahnschrift Light" panose="020B0502040204020203" pitchFamily="34" charset="0"/>
              </a:rPr>
              <a:t>: если животное = класс 1 → оно всегда имеет </a:t>
            </a:r>
            <a:r>
              <a:rPr lang="ru-RU" dirty="0" err="1">
                <a:latin typeface="Bahnschrift Light" panose="020B0502040204020203" pitchFamily="34" charset="0"/>
              </a:rPr>
              <a:t>milk</a:t>
            </a:r>
            <a:r>
              <a:rPr lang="ru-RU" dirty="0">
                <a:latin typeface="Bahnschrift Light" panose="020B0502040204020203" pitchFamily="34" charset="0"/>
              </a:rPr>
              <a:t> = 1</a:t>
            </a:r>
            <a:r>
              <a:rPr lang="en-US" dirty="0">
                <a:latin typeface="Bahnschrift Light" panose="020B0502040204020203" pitchFamily="34" charset="0"/>
              </a:rPr>
              <a:t>; </a:t>
            </a:r>
            <a:r>
              <a:rPr lang="ru-RU" dirty="0">
                <a:latin typeface="Bahnschrift Light" panose="020B0502040204020203" pitchFamily="34" charset="0"/>
              </a:rPr>
              <a:t>если класс = 4 или 7 → </a:t>
            </a:r>
            <a:r>
              <a:rPr lang="ru-RU" dirty="0" err="1">
                <a:latin typeface="Bahnschrift Light" panose="020B0502040204020203" pitchFamily="34" charset="0"/>
              </a:rPr>
              <a:t>milk</a:t>
            </a:r>
            <a:r>
              <a:rPr lang="ru-RU" dirty="0">
                <a:latin typeface="Bahnschrift Light" panose="020B0502040204020203" pitchFamily="34" charset="0"/>
              </a:rPr>
              <a:t> = 0 всегда</a:t>
            </a:r>
          </a:p>
          <a:p>
            <a:pPr marL="0" indent="0">
              <a:buNone/>
            </a:pPr>
            <a:r>
              <a:rPr lang="ru-RU" dirty="0">
                <a:latin typeface="Bahnschrift Light" panose="020B0502040204020203" pitchFamily="34" charset="0"/>
              </a:rPr>
              <a:t>Признак </a:t>
            </a:r>
            <a:r>
              <a:rPr lang="ru-RU" b="1" dirty="0">
                <a:latin typeface="Bahnschrift Light" panose="020B0502040204020203" pitchFamily="34" charset="0"/>
              </a:rPr>
              <a:t>"</a:t>
            </a:r>
            <a:r>
              <a:rPr lang="ru-RU" b="1" dirty="0" err="1">
                <a:latin typeface="Bahnschrift Light" panose="020B0502040204020203" pitchFamily="34" charset="0"/>
              </a:rPr>
              <a:t>hair</a:t>
            </a:r>
            <a:r>
              <a:rPr lang="ru-RU" b="1" dirty="0">
                <a:latin typeface="Bahnschrift Light" panose="020B0502040204020203" pitchFamily="34" charset="0"/>
              </a:rPr>
              <a:t>"</a:t>
            </a:r>
            <a:r>
              <a:rPr lang="ru-RU" dirty="0">
                <a:latin typeface="Bahnschrift Light" panose="020B0502040204020203" pitchFamily="34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Bahnschrift Light" panose="020B0502040204020203" pitchFamily="34" charset="0"/>
              </a:rPr>
              <a:t>аналогично: почти полная разделимость.</a:t>
            </a:r>
          </a:p>
          <a:p>
            <a:pPr marL="0" indent="0">
              <a:buNone/>
            </a:pPr>
            <a:r>
              <a:rPr lang="ru-RU" dirty="0">
                <a:latin typeface="Bahnschrift Light" panose="020B0502040204020203" pitchFamily="34" charset="0"/>
              </a:rPr>
              <a:t>Это показывает, что </a:t>
            </a:r>
            <a:r>
              <a:rPr lang="ru-RU" dirty="0" err="1">
                <a:latin typeface="Bahnschrift Light" panose="020B0502040204020203" pitchFamily="34" charset="0"/>
              </a:rPr>
              <a:t>Zoo</a:t>
            </a:r>
            <a:r>
              <a:rPr lang="ru-RU" dirty="0">
                <a:latin typeface="Bahnschrift Light" panose="020B0502040204020203" pitchFamily="34" charset="0"/>
              </a:rPr>
              <a:t> — подходящий </a:t>
            </a:r>
            <a:r>
              <a:rPr lang="ru-RU" dirty="0" err="1">
                <a:latin typeface="Bahnschrift Light" panose="020B0502040204020203" pitchFamily="34" charset="0"/>
              </a:rPr>
              <a:t>датасет</a:t>
            </a:r>
            <a:r>
              <a:rPr lang="ru-RU" dirty="0">
                <a:latin typeface="Bahnschrift Light" panose="020B0502040204020203" pitchFamily="34" charset="0"/>
              </a:rPr>
              <a:t> для BN.</a:t>
            </a:r>
          </a:p>
          <a:p>
            <a:pPr marL="0" indent="0">
              <a:buNone/>
            </a:pP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84DA5CE-2A92-4B24-8574-B02BD7C06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74" y="2192880"/>
            <a:ext cx="5610807" cy="318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69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3508D-6BD2-4052-A8E4-239481A02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Визуализация сети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EF7FC57-8CE0-4EBB-9C6E-C5E61B056A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368520" y="2065360"/>
            <a:ext cx="6727262" cy="3630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F34E33-52E6-4A70-8D2F-DBDBCBC41240}"/>
              </a:ext>
            </a:extLst>
          </p:cNvPr>
          <p:cNvSpPr txBox="1"/>
          <p:nvPr/>
        </p:nvSpPr>
        <p:spPr>
          <a:xfrm>
            <a:off x="1096218" y="1517413"/>
            <a:ext cx="319003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u="sng" dirty="0">
                <a:latin typeface="Bahnschrift Light" panose="020B0502040204020203" pitchFamily="34" charset="0"/>
              </a:rPr>
              <a:t>Особенности графа:</a:t>
            </a:r>
          </a:p>
          <a:p>
            <a:pPr marL="457200" indent="-457200">
              <a:buAutoNum type="arabicPeriod"/>
            </a:pPr>
            <a:r>
              <a:rPr lang="ru-RU" sz="2400" dirty="0">
                <a:latin typeface="Bahnschrift Light" panose="020B0502040204020203" pitchFamily="34" charset="0"/>
              </a:rPr>
              <a:t>один центральный узел: </a:t>
            </a:r>
            <a:r>
              <a:rPr lang="ru-RU" sz="2400" dirty="0" err="1">
                <a:latin typeface="Bahnschrift Light" panose="020B0502040204020203" pitchFamily="34" charset="0"/>
              </a:rPr>
              <a:t>class_typ</a:t>
            </a:r>
            <a:r>
              <a:rPr lang="en-US" sz="2400" dirty="0">
                <a:latin typeface="Bahnschrift Light" panose="020B0502040204020203" pitchFamily="34" charset="0"/>
              </a:rPr>
              <a:t>e</a:t>
            </a:r>
          </a:p>
          <a:p>
            <a:pPr marL="457200" indent="-457200">
              <a:buAutoNum type="arabicPeriod"/>
            </a:pPr>
            <a:endParaRPr lang="en-US" sz="2400" dirty="0">
              <a:latin typeface="Bahnschrift Light" panose="020B0502040204020203" pitchFamily="34" charset="0"/>
            </a:endParaRPr>
          </a:p>
          <a:p>
            <a:pPr marL="457200" indent="-457200">
              <a:buAutoNum type="arabicPeriod"/>
            </a:pPr>
            <a:r>
              <a:rPr lang="ru-RU" sz="2400" dirty="0">
                <a:latin typeface="Bahnschrift Light" panose="020B0502040204020203" pitchFamily="34" charset="0"/>
              </a:rPr>
              <a:t>стрелки направлены к признакам</a:t>
            </a:r>
            <a:endParaRPr lang="en-US" sz="2400" dirty="0">
              <a:latin typeface="Bahnschrift Light" panose="020B0502040204020203" pitchFamily="34" charset="0"/>
            </a:endParaRPr>
          </a:p>
          <a:p>
            <a:pPr marL="457200" indent="-457200">
              <a:buAutoNum type="arabicPeriod"/>
            </a:pPr>
            <a:endParaRPr lang="en-US" sz="2400" dirty="0">
              <a:latin typeface="Bahnschrift Light" panose="020B0502040204020203" pitchFamily="34" charset="0"/>
            </a:endParaRPr>
          </a:p>
          <a:p>
            <a:pPr marL="457200" indent="-457200">
              <a:buAutoNum type="arabicPeriod"/>
            </a:pPr>
            <a:r>
              <a:rPr lang="ru-RU" sz="2400" dirty="0">
                <a:latin typeface="Bahnschrift Light" panose="020B0502040204020203" pitchFamily="34" charset="0"/>
              </a:rPr>
              <a:t>структура полностью наивная, симметричная</a:t>
            </a:r>
          </a:p>
        </p:txBody>
      </p:sp>
    </p:spTree>
    <p:extLst>
      <p:ext uri="{BB962C8B-B14F-4D97-AF65-F5344CB8AC3E}">
        <p14:creationId xmlns:p14="http://schemas.microsoft.com/office/powerpoint/2010/main" val="1120889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40346E-2196-42DC-B4AB-71DC2230D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latin typeface="Bahnschrift Light" panose="020B0502040204020203" pitchFamily="34" charset="0"/>
              </a:rPr>
              <a:t>Инференс</a:t>
            </a:r>
            <a:r>
              <a:rPr lang="ru-RU" dirty="0">
                <a:latin typeface="Bahnschrift Light" panose="020B0502040204020203" pitchFamily="34" charset="0"/>
              </a:rPr>
              <a:t>: вывод вероятностей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505F61-8635-4FB1-B8C0-A3B122776E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12561" y="1167134"/>
            <a:ext cx="9376378" cy="656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Пример запроса: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pgmpy.inference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VariableElimination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infer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VariableElimination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model_manual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infer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.query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variables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target_col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		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evidence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'milk'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 marL="0" indent="0">
              <a:buNone/>
            </a:pPr>
            <a:r>
              <a:rPr lang="ru-RU" u="sng" dirty="0">
                <a:latin typeface="Bahnschrift Light" panose="020B0502040204020203" pitchFamily="34" charset="0"/>
              </a:rPr>
              <a:t>Результат:</a:t>
            </a:r>
          </a:p>
          <a:p>
            <a:r>
              <a:rPr lang="ru-RU" sz="1800" dirty="0" err="1">
                <a:latin typeface="Bahnschrift Light" panose="020B0502040204020203" pitchFamily="34" charset="0"/>
              </a:rPr>
              <a:t>class_type</a:t>
            </a:r>
            <a:r>
              <a:rPr lang="ru-RU" sz="1800" dirty="0">
                <a:latin typeface="Bahnschrift Light" panose="020B0502040204020203" pitchFamily="34" charset="0"/>
              </a:rPr>
              <a:t>=1 → 1.0</a:t>
            </a:r>
            <a:endParaRPr lang="en-US" sz="1800" dirty="0">
              <a:latin typeface="Bahnschrift Light" panose="020B0502040204020203" pitchFamily="34" charset="0"/>
            </a:endParaRPr>
          </a:p>
          <a:p>
            <a:r>
              <a:rPr lang="ru-RU" sz="1800" dirty="0">
                <a:latin typeface="Bahnschrift Light" panose="020B0502040204020203" pitchFamily="34" charset="0"/>
              </a:rPr>
              <a:t>остальные классы → 0</a:t>
            </a:r>
          </a:p>
          <a:p>
            <a:pPr marL="0" indent="0">
              <a:buNone/>
            </a:pPr>
            <a:r>
              <a:rPr lang="ru-RU" u="sng" dirty="0">
                <a:latin typeface="Bahnschrift Light" panose="020B0502040204020203" pitchFamily="34" charset="0"/>
              </a:rPr>
              <a:t>Интерпретация: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>
                <a:latin typeface="Bahnschrift Light" panose="020B0502040204020203" pitchFamily="34" charset="0"/>
              </a:rPr>
              <a:t>если есть молоко → это 100% млекопитающее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 err="1">
                <a:latin typeface="Bahnschrift Light" panose="020B0502040204020203" pitchFamily="34" charset="0"/>
              </a:rPr>
              <a:t>Zoo</a:t>
            </a:r>
            <a:r>
              <a:rPr lang="ru-RU" sz="1800" dirty="0">
                <a:latin typeface="Bahnschrift Light" panose="020B0502040204020203" pitchFamily="34" charset="0"/>
              </a:rPr>
              <a:t> — полностью разделимый </a:t>
            </a:r>
            <a:r>
              <a:rPr lang="ru-RU" sz="1800" dirty="0" err="1">
                <a:latin typeface="Bahnschrift Light" panose="020B0502040204020203" pitchFamily="34" charset="0"/>
              </a:rPr>
              <a:t>датасет</a:t>
            </a:r>
            <a:r>
              <a:rPr lang="ru-RU" sz="1800" dirty="0">
                <a:latin typeface="Bahnschrift Light" panose="020B0502040204020203" pitchFamily="34" charset="0"/>
              </a:rPr>
              <a:t> → поэтому вероятности точные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1FD6BD5-4B73-4240-A2BA-344FBF1FE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178" y="1885285"/>
            <a:ext cx="3691261" cy="395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825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DB4CA8-3E1D-4AC5-B571-7948789D4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Сравнение с </a:t>
            </a:r>
            <a:r>
              <a:rPr lang="ru-RU" dirty="0" err="1">
                <a:latin typeface="Bahnschrift Light" panose="020B0502040204020203" pitchFamily="34" charset="0"/>
              </a:rPr>
              <a:t>baseline</a:t>
            </a:r>
            <a:r>
              <a:rPr lang="ru-RU" dirty="0">
                <a:latin typeface="Bahnschrift Light" panose="020B0502040204020203" pitchFamily="34" charset="0"/>
              </a:rPr>
              <a:t> (</a:t>
            </a:r>
            <a:r>
              <a:rPr lang="ru-RU" dirty="0" err="1">
                <a:latin typeface="Bahnschrift Light" panose="020B0502040204020203" pitchFamily="34" charset="0"/>
              </a:rPr>
              <a:t>Naive</a:t>
            </a:r>
            <a:r>
              <a:rPr lang="ru-RU" dirty="0">
                <a:latin typeface="Bahnschrift Light" panose="020B0502040204020203" pitchFamily="34" charset="0"/>
              </a:rPr>
              <a:t> </a:t>
            </a:r>
            <a:r>
              <a:rPr lang="ru-RU" dirty="0" err="1">
                <a:latin typeface="Bahnschrift Light" panose="020B0502040204020203" pitchFamily="34" charset="0"/>
              </a:rPr>
              <a:t>Bayes</a:t>
            </a:r>
            <a:r>
              <a:rPr lang="ru-RU" dirty="0">
                <a:latin typeface="Bahnschrift Light" panose="020B0502040204020203" pitchFamily="34" charset="0"/>
              </a:rPr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96ED00-8DDA-493E-9F8B-35FF57795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050" y="2337866"/>
            <a:ext cx="9867900" cy="3997828"/>
          </a:xfrm>
        </p:spPr>
        <p:txBody>
          <a:bodyPr>
            <a:noAutofit/>
          </a:bodyPr>
          <a:lstStyle/>
          <a:p>
            <a:r>
              <a:rPr lang="ru-RU" sz="2400" dirty="0">
                <a:latin typeface="Bahnschrift Light" panose="020B0502040204020203" pitchFamily="34" charset="0"/>
              </a:rPr>
              <a:t>Проводился </a:t>
            </a:r>
            <a:r>
              <a:rPr lang="ru-RU" sz="2400" dirty="0" err="1">
                <a:latin typeface="Bahnschrift Light" panose="020B0502040204020203" pitchFamily="34" charset="0"/>
              </a:rPr>
              <a:t>inference</a:t>
            </a:r>
            <a:r>
              <a:rPr lang="ru-RU" sz="2400" dirty="0">
                <a:latin typeface="Bahnschrift Light" panose="020B0502040204020203" pitchFamily="34" charset="0"/>
              </a:rPr>
              <a:t> для каждой строки теста.</a:t>
            </a:r>
          </a:p>
          <a:p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Считались метрики: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lang="en-US" altLang="ru-RU" sz="2400" dirty="0">
                <a:latin typeface="Bahnschrift Light" panose="020B0502040204020203" pitchFamily="34" charset="0"/>
              </a:rPr>
              <a:t>accuracy </a:t>
            </a:r>
            <a:r>
              <a:rPr lang="ru-RU" altLang="ru-RU" sz="2400" dirty="0">
                <a:latin typeface="Bahnschrift Light" panose="020B0502040204020203" pitchFamily="34" charset="0"/>
              </a:rPr>
              <a:t>и </a:t>
            </a:r>
            <a:r>
              <a:rPr lang="en-US" altLang="ru-RU" sz="2400" dirty="0" err="1">
                <a:latin typeface="Bahnschrift Light" panose="020B0502040204020203" pitchFamily="34" charset="0"/>
              </a:rPr>
              <a:t>log_loss</a:t>
            </a:r>
            <a:endParaRPr lang="en-US" altLang="ru-RU" sz="2400" dirty="0">
              <a:latin typeface="Bahnschrift Light" panose="020B0502040204020203" pitchFamily="34" charset="0"/>
            </a:endParaRPr>
          </a:p>
          <a:p>
            <a:r>
              <a:rPr lang="ru-RU" sz="2400" u="sng" dirty="0">
                <a:latin typeface="Bahnschrift Light" panose="020B0502040204020203" pitchFamily="34" charset="0"/>
              </a:rPr>
              <a:t>Результаты</a:t>
            </a:r>
            <a:r>
              <a:rPr lang="ru-RU" sz="2400" dirty="0">
                <a:latin typeface="Bahnschrift Light" panose="020B0502040204020203" pitchFamily="34" charset="0"/>
              </a:rPr>
              <a:t>:</a:t>
            </a:r>
            <a:r>
              <a:rPr lang="en-US" sz="2400" dirty="0">
                <a:latin typeface="Bahnschrift Light" panose="020B0502040204020203" pitchFamily="34" charset="0"/>
              </a:rPr>
              <a:t> a</a:t>
            </a:r>
            <a:r>
              <a:rPr lang="en-US" sz="2400" b="1" dirty="0">
                <a:latin typeface="Bahnschrift Light" panose="020B0502040204020203" pitchFamily="34" charset="0"/>
              </a:rPr>
              <a:t>ccuracy = 1.0</a:t>
            </a:r>
            <a:r>
              <a:rPr lang="en-US" sz="2400" dirty="0">
                <a:latin typeface="Bahnschrift Light" panose="020B0502040204020203" pitchFamily="34" charset="0"/>
              </a:rPr>
              <a:t> </a:t>
            </a:r>
            <a:r>
              <a:rPr lang="en-US" sz="2400" b="1" dirty="0" err="1">
                <a:latin typeface="Bahnschrift Light" panose="020B0502040204020203" pitchFamily="34" charset="0"/>
              </a:rPr>
              <a:t>log_loss</a:t>
            </a:r>
            <a:r>
              <a:rPr lang="en-US" sz="2400" b="1" dirty="0">
                <a:latin typeface="Bahnschrift Light" panose="020B0502040204020203" pitchFamily="34" charset="0"/>
              </a:rPr>
              <a:t> = 2.22e-16 (≈ 0)</a:t>
            </a:r>
          </a:p>
          <a:p>
            <a:pPr marL="0" indent="0">
              <a:buNone/>
            </a:pPr>
            <a:r>
              <a:rPr lang="ru-RU" sz="2400" dirty="0">
                <a:latin typeface="Bahnschrift Light" panose="020B0502040204020203" pitchFamily="34" charset="0"/>
              </a:rPr>
              <a:t>Это означает: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 Light" panose="020B0502040204020203" pitchFamily="34" charset="0"/>
              </a:rPr>
              <a:t>модель идеально предсказывает классы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 Light" panose="020B0502040204020203" pitchFamily="34" charset="0"/>
              </a:rPr>
              <a:t>вероятности почти </a:t>
            </a:r>
            <a:r>
              <a:rPr lang="en-US" sz="2400" dirty="0">
                <a:latin typeface="Bahnschrift Light" panose="020B0502040204020203" pitchFamily="34" charset="0"/>
              </a:rPr>
              <a:t>“</a:t>
            </a:r>
            <a:r>
              <a:rPr lang="ru-RU" sz="2400" dirty="0">
                <a:latin typeface="Bahnschrift Light" panose="020B0502040204020203" pitchFamily="34" charset="0"/>
              </a:rPr>
              <a:t>жёсткие</a:t>
            </a:r>
            <a:r>
              <a:rPr lang="en-US" sz="2400" dirty="0">
                <a:latin typeface="Bahnschrift Light" panose="020B0502040204020203" pitchFamily="34" charset="0"/>
              </a:rPr>
              <a:t>”</a:t>
            </a:r>
            <a:r>
              <a:rPr lang="ru-RU" sz="2400" dirty="0">
                <a:latin typeface="Bahnschrift Light" panose="020B0502040204020203" pitchFamily="34" charset="0"/>
              </a:rPr>
              <a:t>, без неопределённости</a:t>
            </a:r>
            <a:endParaRPr lang="en-US" sz="2400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ru-RU" sz="2400" dirty="0" err="1">
                <a:latin typeface="Bahnschrift Light" panose="020B0502040204020203" pitchFamily="34" charset="0"/>
              </a:rPr>
              <a:t>Baseline</a:t>
            </a:r>
            <a:r>
              <a:rPr lang="ru-RU" sz="2400" dirty="0">
                <a:latin typeface="Bahnschrift Light" panose="020B0502040204020203" pitchFamily="34" charset="0"/>
              </a:rPr>
              <a:t> показала:</a:t>
            </a:r>
            <a:r>
              <a:rPr lang="en-US" sz="2400" dirty="0">
                <a:latin typeface="Bahnschrift Light" panose="020B0502040204020203" pitchFamily="34" charset="0"/>
              </a:rPr>
              <a:t> </a:t>
            </a:r>
            <a:r>
              <a:rPr lang="ru-RU" sz="2400" dirty="0" err="1">
                <a:latin typeface="Bahnschrift Light" panose="020B0502040204020203" pitchFamily="34" charset="0"/>
              </a:rPr>
              <a:t>accuracy</a:t>
            </a:r>
            <a:r>
              <a:rPr lang="ru-RU" sz="2400" dirty="0">
                <a:latin typeface="Bahnschrift Light" panose="020B0502040204020203" pitchFamily="34" charset="0"/>
              </a:rPr>
              <a:t> ≈ 1.0, </a:t>
            </a:r>
            <a:r>
              <a:rPr lang="en-US" sz="2400" dirty="0" err="1">
                <a:latin typeface="Bahnschrift Light" panose="020B0502040204020203" pitchFamily="34" charset="0"/>
              </a:rPr>
              <a:t>log_loss</a:t>
            </a:r>
            <a:r>
              <a:rPr lang="en-US" sz="2400" dirty="0">
                <a:latin typeface="Bahnschrift Light" panose="020B0502040204020203" pitchFamily="34" charset="0"/>
              </a:rPr>
              <a:t> 0.01522</a:t>
            </a:r>
            <a:r>
              <a:rPr lang="ru-RU" sz="2400" dirty="0">
                <a:latin typeface="Bahnschrift Light" panose="020B0502040204020203" pitchFamily="34" charset="0"/>
              </a:rPr>
              <a:t> (</a:t>
            </a:r>
            <a:r>
              <a:rPr lang="ru-RU" sz="2400" dirty="0" err="1">
                <a:latin typeface="Bahnschrift Light" panose="020B0502040204020203" pitchFamily="34" charset="0"/>
              </a:rPr>
              <a:t>Zoo</a:t>
            </a:r>
            <a:r>
              <a:rPr lang="ru-RU" sz="2400" dirty="0">
                <a:latin typeface="Bahnschrift Light" panose="020B0502040204020203" pitchFamily="34" charset="0"/>
              </a:rPr>
              <a:t> легко классифицировать)</a:t>
            </a:r>
            <a:r>
              <a:rPr lang="en-US" sz="2400" dirty="0">
                <a:latin typeface="Bahnschrift Light" panose="020B0502040204020203" pitchFamily="34" charset="0"/>
              </a:rPr>
              <a:t>. </a:t>
            </a:r>
            <a:r>
              <a:rPr lang="ru-RU" sz="2400" dirty="0" err="1">
                <a:latin typeface="Bahnschrift Light" panose="020B0502040204020203" pitchFamily="34" charset="0"/>
              </a:rPr>
              <a:t>Bayesian</a:t>
            </a:r>
            <a:r>
              <a:rPr lang="ru-RU" sz="2400" dirty="0">
                <a:latin typeface="Bahnschrift Light" panose="020B0502040204020203" pitchFamily="34" charset="0"/>
              </a:rPr>
              <a:t> Network (наивная структура):</a:t>
            </a:r>
            <a:r>
              <a:rPr lang="en-US" sz="2400" dirty="0">
                <a:latin typeface="Bahnschrift Light" panose="020B0502040204020203" pitchFamily="34" charset="0"/>
              </a:rPr>
              <a:t> a</a:t>
            </a:r>
            <a:r>
              <a:rPr lang="ru-RU" sz="2400" dirty="0" err="1">
                <a:latin typeface="Bahnschrift Light" panose="020B0502040204020203" pitchFamily="34" charset="0"/>
              </a:rPr>
              <a:t>ccuracy</a:t>
            </a:r>
            <a:r>
              <a:rPr lang="ru-RU" sz="2400" dirty="0">
                <a:latin typeface="Bahnschrift Light" panose="020B0502040204020203" pitchFamily="34" charset="0"/>
              </a:rPr>
              <a:t> = 1.0</a:t>
            </a:r>
            <a:r>
              <a:rPr lang="en-US" sz="2400" dirty="0">
                <a:latin typeface="Bahnschrift Light" panose="020B0502040204020203" pitchFamily="34" charset="0"/>
              </a:rPr>
              <a:t>, </a:t>
            </a:r>
            <a:r>
              <a:rPr lang="ru-RU" sz="2400" dirty="0">
                <a:latin typeface="Bahnschrift Light" panose="020B0502040204020203" pitchFamily="34" charset="0"/>
              </a:rPr>
              <a:t>работает не хуже, а часто лучше</a:t>
            </a:r>
          </a:p>
          <a:p>
            <a:pPr marL="0" indent="0">
              <a:buNone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544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DB4CA8-3E1D-4AC5-B571-7948789D4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Light" panose="020B0502040204020203" pitchFamily="34" charset="0"/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96ED00-8DDA-493E-9F8B-35FF57795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050" y="1885285"/>
            <a:ext cx="9867900" cy="39978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Байесовская сеть успешно построена на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датасете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Zoo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.</a:t>
            </a:r>
          </a:p>
          <a:p>
            <a:pPr marL="0" indent="0">
              <a:buNone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Структура «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class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→ признаки» показала хорошее качество.</a:t>
            </a:r>
          </a:p>
          <a:p>
            <a:pPr marL="0" indent="0">
              <a:buNone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CPT продемонстрировали чёткие зависимости между классами животных и их признаками.</a:t>
            </a:r>
          </a:p>
          <a:p>
            <a:pPr marL="0" indent="0">
              <a:buNone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Инференс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позволяет получать вероятности классов при известных признаках.</a:t>
            </a:r>
          </a:p>
          <a:p>
            <a:pPr marL="0" indent="0">
              <a:buNone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Модель превосходит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baseline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и является полностью интерпретируемой.</a:t>
            </a:r>
          </a:p>
        </p:txBody>
      </p:sp>
    </p:spTree>
    <p:extLst>
      <p:ext uri="{BB962C8B-B14F-4D97-AF65-F5344CB8AC3E}">
        <p14:creationId xmlns:p14="http://schemas.microsoft.com/office/powerpoint/2010/main" val="21408587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эдисон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{98E7BE6E-BDDB-4658-ADC9-F9CB298B046C}TF37254b02-f5b5-44b0-803d-e6af9466a02430b15390-63aae61ef10a</Template>
  <TotalTime>217</TotalTime>
  <Words>818</Words>
  <Application>Microsoft Office PowerPoint</Application>
  <PresentationFormat>Широкоэкранный</PresentationFormat>
  <Paragraphs>103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Bahnschrift Light</vt:lpstr>
      <vt:lpstr>Consolas</vt:lpstr>
      <vt:lpstr>MS Shell Dlg 2</vt:lpstr>
      <vt:lpstr>Wingdings</vt:lpstr>
      <vt:lpstr>Wingdings 3</vt:lpstr>
      <vt:lpstr>Мэдисон</vt:lpstr>
      <vt:lpstr>ML. Лабораторная работа №4.  Bayesian networks на примере датасета Zoo. </vt:lpstr>
      <vt:lpstr>Введение. Bayesian Network.</vt:lpstr>
      <vt:lpstr>Введение. Датасет.</vt:lpstr>
      <vt:lpstr>Загрузка и обработка датасета</vt:lpstr>
      <vt:lpstr>Загрузка и обработка датасета</vt:lpstr>
      <vt:lpstr>Построение структуры Bayesian Network</vt:lpstr>
      <vt:lpstr>Обучение параметров (Maximum Likelihood)</vt:lpstr>
      <vt:lpstr>Пример CPT для целевой переменной</vt:lpstr>
      <vt:lpstr>Пример CPT для признаков</vt:lpstr>
      <vt:lpstr>Визуализация сети</vt:lpstr>
      <vt:lpstr>Инференс: вывод вероятностей</vt:lpstr>
      <vt:lpstr>Сравнение с baseline (Naive Bayes)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ML. Лабораторная работа №1.  Предсказание итоговой оценки студентов — лучшая модель</dc:title>
  <dc:creator>Rauf</dc:creator>
  <cp:lastModifiedBy>Rauf</cp:lastModifiedBy>
  <cp:revision>17</cp:revision>
  <dcterms:created xsi:type="dcterms:W3CDTF">2025-11-15T20:49:24Z</dcterms:created>
  <dcterms:modified xsi:type="dcterms:W3CDTF">2025-11-29T12:53:10Z</dcterms:modified>
</cp:coreProperties>
</file>